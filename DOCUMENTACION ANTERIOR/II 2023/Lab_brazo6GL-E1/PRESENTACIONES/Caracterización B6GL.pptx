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1" r:id="rId4"/>
    <p:sldId id="260" r:id="rId5"/>
    <p:sldId id="262" r:id="rId6"/>
    <p:sldId id="263" r:id="rId7"/>
    <p:sldId id="264" r:id="rId8"/>
    <p:sldId id="265" r:id="rId9"/>
    <p:sldId id="266" r:id="rId10"/>
    <p:sldId id="267" r:id="rId11"/>
    <p:sldId id="268" r:id="rId12"/>
    <p:sldId id="269" r:id="rId13"/>
    <p:sldId id="270" r:id="rId14"/>
    <p:sldId id="257" r:id="rId15"/>
    <p:sldId id="258" r:id="rId16"/>
    <p:sldId id="272" r:id="rId17"/>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DA22FA-8F11-982B-E0C8-6A48B8093FF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BO"/>
          </a:p>
        </p:txBody>
      </p:sp>
      <p:sp>
        <p:nvSpPr>
          <p:cNvPr id="3" name="Subtítulo 2">
            <a:extLst>
              <a:ext uri="{FF2B5EF4-FFF2-40B4-BE49-F238E27FC236}">
                <a16:creationId xmlns:a16="http://schemas.microsoft.com/office/drawing/2014/main" id="{0B4009F3-9628-7CC3-5BC5-3F4EC9B293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BO"/>
          </a:p>
        </p:txBody>
      </p:sp>
      <p:sp>
        <p:nvSpPr>
          <p:cNvPr id="4" name="Marcador de fecha 3">
            <a:extLst>
              <a:ext uri="{FF2B5EF4-FFF2-40B4-BE49-F238E27FC236}">
                <a16:creationId xmlns:a16="http://schemas.microsoft.com/office/drawing/2014/main" id="{1ACDA78C-AE27-CFFA-C030-2634275AFB57}"/>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5" name="Marcador de pie de página 4">
            <a:extLst>
              <a:ext uri="{FF2B5EF4-FFF2-40B4-BE49-F238E27FC236}">
                <a16:creationId xmlns:a16="http://schemas.microsoft.com/office/drawing/2014/main" id="{61A11E11-697E-E1D5-C6F0-C4A7197E8095}"/>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7FD7ED87-78BC-3D96-D186-841D3219326A}"/>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2392470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CB7690-74F3-81B9-58C1-CE61FD7C4838}"/>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AE2CFB8C-3399-E8BE-D6FE-0F69135FA98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192E4CCE-471A-52F4-201F-2FE427FE2B20}"/>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5" name="Marcador de pie de página 4">
            <a:extLst>
              <a:ext uri="{FF2B5EF4-FFF2-40B4-BE49-F238E27FC236}">
                <a16:creationId xmlns:a16="http://schemas.microsoft.com/office/drawing/2014/main" id="{102B4956-0F28-5C50-78D3-CE9AADC858EB}"/>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E00F3A7D-5AF5-9EA9-70C3-3007B6DEBE61}"/>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1328742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000BEB-D1D6-1C3C-6595-912BF622AD5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26E4D07D-49B6-A783-69ED-9917E9EB9B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9AE2512-A339-8780-C902-AA5DDC70DC1E}"/>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5" name="Marcador de pie de página 4">
            <a:extLst>
              <a:ext uri="{FF2B5EF4-FFF2-40B4-BE49-F238E27FC236}">
                <a16:creationId xmlns:a16="http://schemas.microsoft.com/office/drawing/2014/main" id="{38BD20E7-3FFA-BD70-13C9-1B08EC52DAC2}"/>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B8465334-E2F0-DD2C-6FD5-38F399F32EAB}"/>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437828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5EE130-1BBB-0A6A-C621-333F13C90B75}"/>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E5FB4430-057D-CDD3-ED7E-73FDCAB526F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contenido 3">
            <a:extLst>
              <a:ext uri="{FF2B5EF4-FFF2-40B4-BE49-F238E27FC236}">
                <a16:creationId xmlns:a16="http://schemas.microsoft.com/office/drawing/2014/main" id="{EA840D1C-8660-4324-9388-CE91D07579A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fecha 4">
            <a:extLst>
              <a:ext uri="{FF2B5EF4-FFF2-40B4-BE49-F238E27FC236}">
                <a16:creationId xmlns:a16="http://schemas.microsoft.com/office/drawing/2014/main" id="{847995D3-0053-E9FE-7C06-03A82FA2388B}"/>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6" name="Marcador de pie de página 5">
            <a:extLst>
              <a:ext uri="{FF2B5EF4-FFF2-40B4-BE49-F238E27FC236}">
                <a16:creationId xmlns:a16="http://schemas.microsoft.com/office/drawing/2014/main" id="{6F47D5E1-076C-E327-F07F-1056A16AAF8A}"/>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EE849D6E-F080-4F92-CF79-9B566EEEA205}"/>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1448476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F9AAA4-E0B0-7942-3A9C-70824C8173B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4EF180BA-7E0D-5CD3-6BB4-E877BEF6D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82866C8-296E-EBB3-6F38-76B14B7F59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texto 4">
            <a:extLst>
              <a:ext uri="{FF2B5EF4-FFF2-40B4-BE49-F238E27FC236}">
                <a16:creationId xmlns:a16="http://schemas.microsoft.com/office/drawing/2014/main" id="{F54432DA-7357-5F7A-4BDC-ADA00569B9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39E0CC-4568-8E0E-A34E-74C6B6FA77D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7" name="Marcador de fecha 6">
            <a:extLst>
              <a:ext uri="{FF2B5EF4-FFF2-40B4-BE49-F238E27FC236}">
                <a16:creationId xmlns:a16="http://schemas.microsoft.com/office/drawing/2014/main" id="{72B0910D-41E0-19F5-3CD8-ECA0649CBE29}"/>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8" name="Marcador de pie de página 7">
            <a:extLst>
              <a:ext uri="{FF2B5EF4-FFF2-40B4-BE49-F238E27FC236}">
                <a16:creationId xmlns:a16="http://schemas.microsoft.com/office/drawing/2014/main" id="{978A5F13-3322-8B91-E0DA-95DFE2B51231}"/>
              </a:ext>
            </a:extLst>
          </p:cNvPr>
          <p:cNvSpPr>
            <a:spLocks noGrp="1"/>
          </p:cNvSpPr>
          <p:nvPr>
            <p:ph type="ftr" sz="quarter" idx="11"/>
          </p:nvPr>
        </p:nvSpPr>
        <p:spPr/>
        <p:txBody>
          <a:bodyPr/>
          <a:lstStyle/>
          <a:p>
            <a:endParaRPr lang="es-BO"/>
          </a:p>
        </p:txBody>
      </p:sp>
      <p:sp>
        <p:nvSpPr>
          <p:cNvPr id="9" name="Marcador de número de diapositiva 8">
            <a:extLst>
              <a:ext uri="{FF2B5EF4-FFF2-40B4-BE49-F238E27FC236}">
                <a16:creationId xmlns:a16="http://schemas.microsoft.com/office/drawing/2014/main" id="{BA517574-E3AF-526F-BECF-24F72A1E3BE0}"/>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1305610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EE18DD-DFF8-52D6-99A5-9DE1DF06D291}"/>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fecha 2">
            <a:extLst>
              <a:ext uri="{FF2B5EF4-FFF2-40B4-BE49-F238E27FC236}">
                <a16:creationId xmlns:a16="http://schemas.microsoft.com/office/drawing/2014/main" id="{6246853D-3B0D-554B-452D-F7A5F6BF9638}"/>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4" name="Marcador de pie de página 3">
            <a:extLst>
              <a:ext uri="{FF2B5EF4-FFF2-40B4-BE49-F238E27FC236}">
                <a16:creationId xmlns:a16="http://schemas.microsoft.com/office/drawing/2014/main" id="{9141C8D6-AE99-4427-6C79-3382DBB9694A}"/>
              </a:ext>
            </a:extLst>
          </p:cNvPr>
          <p:cNvSpPr>
            <a:spLocks noGrp="1"/>
          </p:cNvSpPr>
          <p:nvPr>
            <p:ph type="ftr" sz="quarter" idx="11"/>
          </p:nvPr>
        </p:nvSpPr>
        <p:spPr/>
        <p:txBody>
          <a:bodyPr/>
          <a:lstStyle/>
          <a:p>
            <a:endParaRPr lang="es-BO"/>
          </a:p>
        </p:txBody>
      </p:sp>
      <p:sp>
        <p:nvSpPr>
          <p:cNvPr id="5" name="Marcador de número de diapositiva 4">
            <a:extLst>
              <a:ext uri="{FF2B5EF4-FFF2-40B4-BE49-F238E27FC236}">
                <a16:creationId xmlns:a16="http://schemas.microsoft.com/office/drawing/2014/main" id="{8836FAA1-96A0-F45C-96CE-48250312ACBC}"/>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1139555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4C45561-3355-F193-9922-018B712BC295}"/>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3" name="Marcador de pie de página 2">
            <a:extLst>
              <a:ext uri="{FF2B5EF4-FFF2-40B4-BE49-F238E27FC236}">
                <a16:creationId xmlns:a16="http://schemas.microsoft.com/office/drawing/2014/main" id="{837DCE4F-E756-184B-3B5A-8EECB196A324}"/>
              </a:ext>
            </a:extLst>
          </p:cNvPr>
          <p:cNvSpPr>
            <a:spLocks noGrp="1"/>
          </p:cNvSpPr>
          <p:nvPr>
            <p:ph type="ftr" sz="quarter" idx="11"/>
          </p:nvPr>
        </p:nvSpPr>
        <p:spPr/>
        <p:txBody>
          <a:bodyPr/>
          <a:lstStyle/>
          <a:p>
            <a:endParaRPr lang="es-BO"/>
          </a:p>
        </p:txBody>
      </p:sp>
      <p:sp>
        <p:nvSpPr>
          <p:cNvPr id="4" name="Marcador de número de diapositiva 3">
            <a:extLst>
              <a:ext uri="{FF2B5EF4-FFF2-40B4-BE49-F238E27FC236}">
                <a16:creationId xmlns:a16="http://schemas.microsoft.com/office/drawing/2014/main" id="{F35BB391-EBF9-FF68-E458-CDD5114051B7}"/>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17119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2B6522-C1CF-121F-82B7-A455CFFBD20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36129CA8-28AB-49BF-E586-C9ACC3EBF2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texto 3">
            <a:extLst>
              <a:ext uri="{FF2B5EF4-FFF2-40B4-BE49-F238E27FC236}">
                <a16:creationId xmlns:a16="http://schemas.microsoft.com/office/drawing/2014/main" id="{DA6DC2BD-F837-DA67-2FB4-53922CD47E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C486485-E8BD-02D0-A061-0F970BC18724}"/>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6" name="Marcador de pie de página 5">
            <a:extLst>
              <a:ext uri="{FF2B5EF4-FFF2-40B4-BE49-F238E27FC236}">
                <a16:creationId xmlns:a16="http://schemas.microsoft.com/office/drawing/2014/main" id="{0E86CD3D-DD94-A914-8D32-4761D946E361}"/>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57A24C78-4B66-C46C-C489-212B0A908CB4}"/>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1917633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1537E5-1524-8E36-F199-E9533CCC8A5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posición de imagen 2">
            <a:extLst>
              <a:ext uri="{FF2B5EF4-FFF2-40B4-BE49-F238E27FC236}">
                <a16:creationId xmlns:a16="http://schemas.microsoft.com/office/drawing/2014/main" id="{6B9C76E2-BE00-D626-349F-2E689C12C0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Marcador de texto 3">
            <a:extLst>
              <a:ext uri="{FF2B5EF4-FFF2-40B4-BE49-F238E27FC236}">
                <a16:creationId xmlns:a16="http://schemas.microsoft.com/office/drawing/2014/main" id="{9F831346-73CE-F5DF-2126-6D4D90C5F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4B2D41B-3B68-8FBC-EDF7-F71B01871283}"/>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6" name="Marcador de pie de página 5">
            <a:extLst>
              <a:ext uri="{FF2B5EF4-FFF2-40B4-BE49-F238E27FC236}">
                <a16:creationId xmlns:a16="http://schemas.microsoft.com/office/drawing/2014/main" id="{B3AF9D3D-F587-5BFB-69E7-7CFB57DCE35E}"/>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B2D9F36B-4580-1390-7AEC-0FF032A25E97}"/>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2979091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0607B3-4844-BA49-BA7D-92483161EC96}"/>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01FA751B-BEDB-F7E4-7A4B-D45E5751055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E47FDCBD-1E25-5677-B4C9-7668C8C31E21}"/>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5" name="Marcador de pie de página 4">
            <a:extLst>
              <a:ext uri="{FF2B5EF4-FFF2-40B4-BE49-F238E27FC236}">
                <a16:creationId xmlns:a16="http://schemas.microsoft.com/office/drawing/2014/main" id="{9CF782DA-E4E6-DD1C-B1CE-25BF41F4C0BF}"/>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1215E010-3E16-AB93-A278-09D5A26FDE4E}"/>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875459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9C1357F-502B-CDB0-A0A9-D360D49A6D1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77F8B1CB-D565-770A-ECB2-D748E77699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3CC535E6-8D25-6AE4-ADD0-5AC1F8C21CEA}"/>
              </a:ext>
            </a:extLst>
          </p:cNvPr>
          <p:cNvSpPr>
            <a:spLocks noGrp="1"/>
          </p:cNvSpPr>
          <p:nvPr>
            <p:ph type="dt" sz="half" idx="10"/>
          </p:nvPr>
        </p:nvSpPr>
        <p:spPr/>
        <p:txBody>
          <a:bodyPr/>
          <a:lstStyle/>
          <a:p>
            <a:fld id="{C433BCDE-24A7-49DB-A62A-59A23ADDF79A}" type="datetimeFigureOut">
              <a:rPr lang="es-BO" smtClean="0"/>
              <a:t>22/6/2023</a:t>
            </a:fld>
            <a:endParaRPr lang="es-BO"/>
          </a:p>
        </p:txBody>
      </p:sp>
      <p:sp>
        <p:nvSpPr>
          <p:cNvPr id="5" name="Marcador de pie de página 4">
            <a:extLst>
              <a:ext uri="{FF2B5EF4-FFF2-40B4-BE49-F238E27FC236}">
                <a16:creationId xmlns:a16="http://schemas.microsoft.com/office/drawing/2014/main" id="{BA2B1D73-5340-1FD2-673F-44245602D346}"/>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EE87E395-DC11-CD53-5232-637065A718BF}"/>
              </a:ext>
            </a:extLst>
          </p:cNvPr>
          <p:cNvSpPr>
            <a:spLocks noGrp="1"/>
          </p:cNvSpPr>
          <p:nvPr>
            <p:ph type="sldNum" sz="quarter" idx="12"/>
          </p:nvPr>
        </p:nvSpPr>
        <p:spPr/>
        <p:txBody>
          <a:bodyPr/>
          <a:lstStyle/>
          <a:p>
            <a:fld id="{A993448C-6D8F-4CFA-9561-47D79EABD939}" type="slidenum">
              <a:rPr lang="es-BO" smtClean="0"/>
              <a:t>‹Nº›</a:t>
            </a:fld>
            <a:endParaRPr lang="es-BO"/>
          </a:p>
        </p:txBody>
      </p:sp>
    </p:spTree>
    <p:extLst>
      <p:ext uri="{BB962C8B-B14F-4D97-AF65-F5344CB8AC3E}">
        <p14:creationId xmlns:p14="http://schemas.microsoft.com/office/powerpoint/2010/main" val="755938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CB855F9-774B-588A-B20E-13E6368C13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5DAED300-40DD-29A4-44E3-9EE42E0A27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2AB9855F-C57A-88FE-4CA8-D803774C31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33BCDE-24A7-49DB-A62A-59A23ADDF79A}" type="datetimeFigureOut">
              <a:rPr lang="es-BO" smtClean="0"/>
              <a:t>22/6/2023</a:t>
            </a:fld>
            <a:endParaRPr lang="es-BO"/>
          </a:p>
        </p:txBody>
      </p:sp>
      <p:sp>
        <p:nvSpPr>
          <p:cNvPr id="5" name="Marcador de pie de página 4">
            <a:extLst>
              <a:ext uri="{FF2B5EF4-FFF2-40B4-BE49-F238E27FC236}">
                <a16:creationId xmlns:a16="http://schemas.microsoft.com/office/drawing/2014/main" id="{B8E94111-F4A0-2334-CD24-365183C1D8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BO"/>
          </a:p>
        </p:txBody>
      </p:sp>
      <p:sp>
        <p:nvSpPr>
          <p:cNvPr id="6" name="Marcador de número de diapositiva 5">
            <a:extLst>
              <a:ext uri="{FF2B5EF4-FFF2-40B4-BE49-F238E27FC236}">
                <a16:creationId xmlns:a16="http://schemas.microsoft.com/office/drawing/2014/main" id="{CDB78C7B-3995-4D98-9777-7135E85A4E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93448C-6D8F-4CFA-9561-47D79EABD939}" type="slidenum">
              <a:rPr lang="es-BO" smtClean="0"/>
              <a:t>‹Nº›</a:t>
            </a:fld>
            <a:endParaRPr lang="es-BO"/>
          </a:p>
        </p:txBody>
      </p:sp>
    </p:spTree>
    <p:extLst>
      <p:ext uri="{BB962C8B-B14F-4D97-AF65-F5344CB8AC3E}">
        <p14:creationId xmlns:p14="http://schemas.microsoft.com/office/powerpoint/2010/main" val="4165111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351BB-D083-5127-9C9B-FEBE86DF76C8}"/>
              </a:ext>
            </a:extLst>
          </p:cNvPr>
          <p:cNvSpPr>
            <a:spLocks noGrp="1"/>
          </p:cNvSpPr>
          <p:nvPr>
            <p:ph type="ctrTitle"/>
          </p:nvPr>
        </p:nvSpPr>
        <p:spPr/>
        <p:txBody>
          <a:bodyPr/>
          <a:lstStyle/>
          <a:p>
            <a:r>
              <a:rPr lang="es-ES" dirty="0"/>
              <a:t>BRAZO ARTICULADO DE 6 GRADOS DE LIBERTAD</a:t>
            </a:r>
            <a:endParaRPr lang="es-BO" dirty="0"/>
          </a:p>
        </p:txBody>
      </p:sp>
      <p:sp>
        <p:nvSpPr>
          <p:cNvPr id="3" name="Subtítulo 2">
            <a:extLst>
              <a:ext uri="{FF2B5EF4-FFF2-40B4-BE49-F238E27FC236}">
                <a16:creationId xmlns:a16="http://schemas.microsoft.com/office/drawing/2014/main" id="{65977F38-0F76-095A-8A5F-CA9B81934A4D}"/>
              </a:ext>
            </a:extLst>
          </p:cNvPr>
          <p:cNvSpPr>
            <a:spLocks noGrp="1"/>
          </p:cNvSpPr>
          <p:nvPr>
            <p:ph type="subTitle" idx="1"/>
          </p:nvPr>
        </p:nvSpPr>
        <p:spPr/>
        <p:txBody>
          <a:bodyPr/>
          <a:lstStyle/>
          <a:p>
            <a:endParaRPr lang="es-BO"/>
          </a:p>
        </p:txBody>
      </p:sp>
    </p:spTree>
    <p:extLst>
      <p:ext uri="{BB962C8B-B14F-4D97-AF65-F5344CB8AC3E}">
        <p14:creationId xmlns:p14="http://schemas.microsoft.com/office/powerpoint/2010/main" val="3946999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3" name="Rectangle 2062">
            <a:extLst>
              <a:ext uri="{FF2B5EF4-FFF2-40B4-BE49-F238E27FC236}">
                <a16:creationId xmlns:a16="http://schemas.microsoft.com/office/drawing/2014/main" id="{D75A5B51-0925-4835-8511-A0DD17EAA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FC21ABB-E6CD-C624-7797-E31E29459BBB}"/>
              </a:ext>
            </a:extLst>
          </p:cNvPr>
          <p:cNvSpPr>
            <a:spLocks noGrp="1"/>
          </p:cNvSpPr>
          <p:nvPr>
            <p:ph type="title"/>
          </p:nvPr>
        </p:nvSpPr>
        <p:spPr>
          <a:xfrm>
            <a:off x="612648" y="365125"/>
            <a:ext cx="5295015" cy="2063808"/>
          </a:xfrm>
        </p:spPr>
        <p:txBody>
          <a:bodyPr anchor="b">
            <a:normAutofit/>
          </a:bodyPr>
          <a:lstStyle/>
          <a:p>
            <a:r>
              <a:rPr lang="es-BO" sz="5400"/>
              <a:t>SENSOR FINAL DE CARRERA</a:t>
            </a:r>
          </a:p>
        </p:txBody>
      </p:sp>
      <p:sp>
        <p:nvSpPr>
          <p:cNvPr id="2065" name="Sketch line">
            <a:extLst>
              <a:ext uri="{FF2B5EF4-FFF2-40B4-BE49-F238E27FC236}">
                <a16:creationId xmlns:a16="http://schemas.microsoft.com/office/drawing/2014/main" id="{5CDFD20D-8E4F-4E3A-AF87-93F23E0D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65018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B41310E-1059-22E4-57F3-4A4BE17BF748}"/>
              </a:ext>
            </a:extLst>
          </p:cNvPr>
          <p:cNvSpPr>
            <a:spLocks noGrp="1"/>
          </p:cNvSpPr>
          <p:nvPr>
            <p:ph idx="1"/>
          </p:nvPr>
        </p:nvSpPr>
        <p:spPr>
          <a:xfrm>
            <a:off x="612648" y="2908005"/>
            <a:ext cx="5295015" cy="3268957"/>
          </a:xfrm>
        </p:spPr>
        <p:txBody>
          <a:bodyPr>
            <a:normAutofit/>
          </a:bodyPr>
          <a:lstStyle/>
          <a:p>
            <a:pPr rtl="0">
              <a:spcBef>
                <a:spcPts val="0"/>
              </a:spcBef>
              <a:spcAft>
                <a:spcPts val="0"/>
              </a:spcAft>
            </a:pPr>
            <a:r>
              <a:rPr lang="es-BO" sz="2000" b="0" i="0" u="none" strike="noStrike">
                <a:effectLst/>
                <a:latin typeface="Roboto" panose="02000000000000000000" pitchFamily="2" charset="0"/>
              </a:rPr>
              <a:t>Final de Carrera SPDT, Mediano</a:t>
            </a:r>
            <a:endParaRPr lang="es-BO" sz="2000" b="0">
              <a:effectLst/>
            </a:endParaRPr>
          </a:p>
          <a:p>
            <a:pPr rtl="0">
              <a:spcBef>
                <a:spcPts val="1100"/>
              </a:spcBef>
              <a:spcAft>
                <a:spcPts val="1100"/>
              </a:spcAft>
            </a:pPr>
            <a:r>
              <a:rPr lang="es-BO" sz="2000" b="1" i="0" u="none" strike="noStrike">
                <a:effectLst/>
                <a:latin typeface="Roboto" panose="02000000000000000000" pitchFamily="2" charset="0"/>
              </a:rPr>
              <a:t>Corriente: </a:t>
            </a:r>
            <a:r>
              <a:rPr lang="es-BO" sz="2000" b="0" i="0" u="none" strike="noStrike">
                <a:effectLst/>
                <a:latin typeface="Roboto" panose="02000000000000000000" pitchFamily="2" charset="0"/>
              </a:rPr>
              <a:t>5 A a 250 VAC - 3 A a 125 VAC</a:t>
            </a:r>
            <a:endParaRPr lang="es-BO" sz="2000" b="0">
              <a:effectLst/>
            </a:endParaRPr>
          </a:p>
          <a:p>
            <a:pPr rtl="0">
              <a:spcBef>
                <a:spcPts val="1100"/>
              </a:spcBef>
              <a:spcAft>
                <a:spcPts val="1100"/>
              </a:spcAft>
            </a:pPr>
            <a:r>
              <a:rPr lang="es-BO" sz="2000" b="1" i="0" u="none" strike="noStrike">
                <a:effectLst/>
                <a:latin typeface="Roboto" panose="02000000000000000000" pitchFamily="2" charset="0"/>
              </a:rPr>
              <a:t>Polos: </a:t>
            </a:r>
            <a:r>
              <a:rPr lang="es-BO" sz="2000" b="0" i="0" u="none" strike="noStrike">
                <a:effectLst/>
                <a:latin typeface="Roboto" panose="02000000000000000000" pitchFamily="2" charset="0"/>
              </a:rPr>
              <a:t>SPDT</a:t>
            </a:r>
            <a:endParaRPr lang="es-BO" sz="2000" b="0">
              <a:effectLst/>
            </a:endParaRPr>
          </a:p>
          <a:p>
            <a:pPr rtl="0">
              <a:spcBef>
                <a:spcPts val="1100"/>
              </a:spcBef>
              <a:spcAft>
                <a:spcPts val="1100"/>
              </a:spcAft>
            </a:pPr>
            <a:r>
              <a:rPr lang="es-BO" sz="2000" b="1" i="0" u="none" strike="noStrike">
                <a:effectLst/>
                <a:latin typeface="Roboto" panose="02000000000000000000" pitchFamily="2" charset="0"/>
              </a:rPr>
              <a:t>Pines: </a:t>
            </a:r>
            <a:r>
              <a:rPr lang="es-BO" sz="2000" b="0" i="0" u="none" strike="noStrike">
                <a:effectLst/>
                <a:latin typeface="Roboto" panose="02000000000000000000" pitchFamily="2" charset="0"/>
              </a:rPr>
              <a:t>3 (NO, COM, NC)</a:t>
            </a:r>
            <a:endParaRPr lang="es-BO" sz="2000" b="0">
              <a:effectLst/>
            </a:endParaRPr>
          </a:p>
          <a:p>
            <a:r>
              <a:rPr lang="es-BO" sz="2000" b="1" i="0" u="none" strike="noStrike">
                <a:effectLst/>
                <a:latin typeface="Roboto" panose="02000000000000000000" pitchFamily="2" charset="0"/>
              </a:rPr>
              <a:t>Largo de palanca: </a:t>
            </a:r>
            <a:r>
              <a:rPr lang="es-BO" sz="2000" b="0" i="0" u="none" strike="noStrike">
                <a:effectLst/>
                <a:latin typeface="Roboto" panose="02000000000000000000" pitchFamily="2" charset="0"/>
              </a:rPr>
              <a:t>19 mm</a:t>
            </a:r>
          </a:p>
          <a:p>
            <a:r>
              <a:rPr lang="es-BO" sz="2000" b="1">
                <a:latin typeface="Roboto" panose="02000000000000000000" pitchFamily="2" charset="0"/>
              </a:rPr>
              <a:t>Tiempos de conmutación: </a:t>
            </a:r>
            <a:r>
              <a:rPr lang="es-BO" sz="2000">
                <a:latin typeface="Roboto" panose="02000000000000000000" pitchFamily="2" charset="0"/>
              </a:rPr>
              <a:t>1,9ms</a:t>
            </a:r>
            <a:endParaRPr lang="es-BO" sz="2000" b="1"/>
          </a:p>
        </p:txBody>
      </p:sp>
      <p:pic>
        <p:nvPicPr>
          <p:cNvPr id="2058" name="Picture 10">
            <a:extLst>
              <a:ext uri="{FF2B5EF4-FFF2-40B4-BE49-F238E27FC236}">
                <a16:creationId xmlns:a16="http://schemas.microsoft.com/office/drawing/2014/main" id="{7A25304F-25A5-A15B-558E-4147CDF97E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96397" y="815258"/>
            <a:ext cx="2603605" cy="197873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74EC2976-C1BD-B4D8-1259-8136A84F94E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224328" y="864075"/>
            <a:ext cx="2603605" cy="188110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D0E66EBD-6C74-39AF-8CD3-3BFAA773D49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541413" y="3426258"/>
            <a:ext cx="5141503" cy="2750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948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923BE4-B5FC-B8F7-5AF1-7E4607E67277}"/>
              </a:ext>
            </a:extLst>
          </p:cNvPr>
          <p:cNvSpPr>
            <a:spLocks noGrp="1"/>
          </p:cNvSpPr>
          <p:nvPr>
            <p:ph type="title"/>
          </p:nvPr>
        </p:nvSpPr>
        <p:spPr/>
        <p:txBody>
          <a:bodyPr/>
          <a:lstStyle/>
          <a:p>
            <a:r>
              <a:rPr lang="es-BO" dirty="0"/>
              <a:t>SENSOR MAGNÉTICO</a:t>
            </a:r>
          </a:p>
        </p:txBody>
      </p:sp>
      <p:sp>
        <p:nvSpPr>
          <p:cNvPr id="3" name="Marcador de contenido 2">
            <a:extLst>
              <a:ext uri="{FF2B5EF4-FFF2-40B4-BE49-F238E27FC236}">
                <a16:creationId xmlns:a16="http://schemas.microsoft.com/office/drawing/2014/main" id="{817D39B6-8B4E-ACE0-25A2-CBA375115B51}"/>
              </a:ext>
            </a:extLst>
          </p:cNvPr>
          <p:cNvSpPr>
            <a:spLocks noGrp="1"/>
          </p:cNvSpPr>
          <p:nvPr>
            <p:ph idx="1"/>
          </p:nvPr>
        </p:nvSpPr>
        <p:spPr/>
        <p:txBody>
          <a:bodyPr/>
          <a:lstStyle/>
          <a:p>
            <a:endParaRPr lang="es-BO" dirty="0"/>
          </a:p>
        </p:txBody>
      </p:sp>
      <p:pic>
        <p:nvPicPr>
          <p:cNvPr id="4" name="Picture 2">
            <a:extLst>
              <a:ext uri="{FF2B5EF4-FFF2-40B4-BE49-F238E27FC236}">
                <a16:creationId xmlns:a16="http://schemas.microsoft.com/office/drawing/2014/main" id="{7C7DCCDC-EB53-8593-55F7-9E83BFC1223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43025" y="2176470"/>
            <a:ext cx="6134852" cy="345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86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03" name="Rectangle 3102">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87593A1-4AB7-D141-B802-5C33D9D9DBEB}"/>
              </a:ext>
            </a:extLst>
          </p:cNvPr>
          <p:cNvSpPr>
            <a:spLocks noGrp="1"/>
          </p:cNvSpPr>
          <p:nvPr>
            <p:ph type="title"/>
          </p:nvPr>
        </p:nvSpPr>
        <p:spPr>
          <a:xfrm>
            <a:off x="612648" y="365125"/>
            <a:ext cx="6986015" cy="1776484"/>
          </a:xfrm>
        </p:spPr>
        <p:txBody>
          <a:bodyPr anchor="b">
            <a:normAutofit/>
          </a:bodyPr>
          <a:lstStyle/>
          <a:p>
            <a:r>
              <a:rPr lang="es-BO" sz="5400"/>
              <a:t>SENSOR MAGNÉTICO</a:t>
            </a:r>
          </a:p>
        </p:txBody>
      </p:sp>
      <p:pic>
        <p:nvPicPr>
          <p:cNvPr id="4" name="Picture 4">
            <a:extLst>
              <a:ext uri="{FF2B5EF4-FFF2-40B4-BE49-F238E27FC236}">
                <a16:creationId xmlns:a16="http://schemas.microsoft.com/office/drawing/2014/main" id="{315E7113-37F1-7774-243C-C8526CC609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16" r="4" b="4"/>
          <a:stretch/>
        </p:blipFill>
        <p:spPr bwMode="auto">
          <a:xfrm>
            <a:off x="8897447" y="261991"/>
            <a:ext cx="2495959" cy="1890220"/>
          </a:xfrm>
          <a:prstGeom prst="rect">
            <a:avLst/>
          </a:prstGeom>
          <a:noFill/>
          <a:extLst>
            <a:ext uri="{909E8E84-426E-40DD-AFC4-6F175D3DCCD1}">
              <a14:hiddenFill xmlns:a14="http://schemas.microsoft.com/office/drawing/2010/main">
                <a:solidFill>
                  <a:srgbClr val="FFFFFF"/>
                </a:solidFill>
              </a14:hiddenFill>
            </a:ext>
          </a:extLst>
        </p:spPr>
      </p:pic>
      <p:sp>
        <p:nvSpPr>
          <p:cNvPr id="3105"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2826B0B-645F-473D-7B5D-C4A34D651D4C}"/>
              </a:ext>
            </a:extLst>
          </p:cNvPr>
          <p:cNvSpPr>
            <a:spLocks noGrp="1"/>
          </p:cNvSpPr>
          <p:nvPr>
            <p:ph idx="1"/>
          </p:nvPr>
        </p:nvSpPr>
        <p:spPr>
          <a:xfrm>
            <a:off x="612648" y="2504819"/>
            <a:ext cx="6986016" cy="3672144"/>
          </a:xfrm>
        </p:spPr>
        <p:txBody>
          <a:bodyPr>
            <a:normAutofit/>
          </a:bodyPr>
          <a:lstStyle/>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Voltaje de Operación: 6 - 36 V DC</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Consumo corriente: 300 mA</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Conexión por cable de 3 hilos (VCC, GND, Salida)</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Frecuencia de respuesta: 100 Hz</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Rango de detección: 4mm +/-10%</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Materiales detectables: Hierro/aleaciones de acero</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Diámetro: 12mm</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Longitud: 64mm</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Peso: 45 gramos</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Marrón: 6-36V DC (VCC)</a:t>
            </a:r>
          </a:p>
          <a:p>
            <a:pPr rtl="0" fontAlgn="base">
              <a:spcBef>
                <a:spcPts val="0"/>
              </a:spcBef>
              <a:spcAft>
                <a:spcPts val="900"/>
              </a:spcAft>
              <a:buFont typeface="Arial" panose="020B0604020202020204" pitchFamily="34" charset="0"/>
              <a:buChar char="•"/>
            </a:pPr>
            <a:r>
              <a:rPr lang="es-BO" sz="2000" b="0" i="0" u="none" strike="noStrike">
                <a:effectLst/>
                <a:latin typeface="Roboto" panose="02000000000000000000" pitchFamily="2" charset="0"/>
              </a:rPr>
              <a:t>Negro: Salida NPN NO (Detección: GND, Reposo: VCC)</a:t>
            </a:r>
          </a:p>
          <a:p>
            <a:pPr rtl="0" fontAlgn="base">
              <a:spcBef>
                <a:spcPts val="0"/>
              </a:spcBef>
              <a:spcAft>
                <a:spcPts val="0"/>
              </a:spcAft>
              <a:buFont typeface="Arial" panose="020B0604020202020204" pitchFamily="34" charset="0"/>
              <a:buChar char="•"/>
            </a:pPr>
            <a:r>
              <a:rPr lang="es-BO" sz="2000" b="0" i="0" u="none" strike="noStrike">
                <a:effectLst/>
                <a:latin typeface="Roboto" panose="02000000000000000000" pitchFamily="2" charset="0"/>
              </a:rPr>
              <a:t>Azul: GND</a:t>
            </a:r>
          </a:p>
          <a:p>
            <a:pPr rtl="0" fontAlgn="base">
              <a:spcBef>
                <a:spcPts val="0"/>
              </a:spcBef>
              <a:spcAft>
                <a:spcPts val="0"/>
              </a:spcAft>
              <a:buFont typeface="Arial" panose="020B0604020202020204" pitchFamily="34" charset="0"/>
              <a:buChar char="•"/>
            </a:pPr>
            <a:endParaRPr lang="es-BO" sz="2000" b="0" i="0" u="none" strike="noStrike">
              <a:effectLst/>
              <a:latin typeface="Roboto" panose="02000000000000000000" pitchFamily="2" charset="0"/>
            </a:endParaRPr>
          </a:p>
          <a:p>
            <a:endParaRPr lang="es-BO" sz="2000"/>
          </a:p>
        </p:txBody>
      </p:sp>
      <p:pic>
        <p:nvPicPr>
          <p:cNvPr id="3076" name="Picture 4">
            <a:extLst>
              <a:ext uri="{FF2B5EF4-FFF2-40B4-BE49-F238E27FC236}">
                <a16:creationId xmlns:a16="http://schemas.microsoft.com/office/drawing/2014/main" id="{042E1009-49E4-ECE1-7F5E-56B2ABBD49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469"/>
          <a:stretch/>
        </p:blipFill>
        <p:spPr bwMode="auto">
          <a:xfrm>
            <a:off x="8865354" y="2310086"/>
            <a:ext cx="2561872" cy="18902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67DD6AE5-F143-DA56-C3D4-C224F91F609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008"/>
          <a:stretch/>
        </p:blipFill>
        <p:spPr bwMode="auto">
          <a:xfrm>
            <a:off x="8902338" y="4358181"/>
            <a:ext cx="2487905" cy="1890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26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6" name="Rectangle 5141">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2FFB49C-29A3-FD03-8647-FD78AFB874CF}"/>
              </a:ext>
            </a:extLst>
          </p:cNvPr>
          <p:cNvSpPr>
            <a:spLocks noGrp="1"/>
          </p:cNvSpPr>
          <p:nvPr>
            <p:ph type="title"/>
          </p:nvPr>
        </p:nvSpPr>
        <p:spPr>
          <a:xfrm>
            <a:off x="4797501" y="329184"/>
            <a:ext cx="6755626" cy="1783080"/>
          </a:xfrm>
        </p:spPr>
        <p:txBody>
          <a:bodyPr anchor="b">
            <a:normAutofit/>
          </a:bodyPr>
          <a:lstStyle/>
          <a:p>
            <a:r>
              <a:rPr lang="es-BO" sz="5400"/>
              <a:t>ENCODER INCREMENTAL</a:t>
            </a:r>
          </a:p>
        </p:txBody>
      </p:sp>
      <p:pic>
        <p:nvPicPr>
          <p:cNvPr id="5124" name="Picture 4">
            <a:extLst>
              <a:ext uri="{FF2B5EF4-FFF2-40B4-BE49-F238E27FC236}">
                <a16:creationId xmlns:a16="http://schemas.microsoft.com/office/drawing/2014/main" id="{0CEFB442-E5F6-9FBB-F0DB-BAC8614ACF4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63708" y="0"/>
            <a:ext cx="2926880" cy="3907536"/>
          </a:xfrm>
          <a:prstGeom prst="rect">
            <a:avLst/>
          </a:prstGeom>
          <a:noFill/>
          <a:extLst>
            <a:ext uri="{909E8E84-426E-40DD-AFC4-6F175D3DCCD1}">
              <a14:hiddenFill xmlns:a14="http://schemas.microsoft.com/office/drawing/2010/main">
                <a:solidFill>
                  <a:srgbClr val="FFFFFF"/>
                </a:solidFill>
              </a14:hiddenFill>
            </a:ext>
          </a:extLst>
        </p:spPr>
      </p:pic>
      <p:sp>
        <p:nvSpPr>
          <p:cNvPr id="5147"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6" name="Picture 6">
            <a:extLst>
              <a:ext uri="{FF2B5EF4-FFF2-40B4-BE49-F238E27FC236}">
                <a16:creationId xmlns:a16="http://schemas.microsoft.com/office/drawing/2014/main" id="{803BA93A-C90B-3B47-C977-24F220B8512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92215" y="4149598"/>
            <a:ext cx="2051578" cy="209880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3A2BA6FC-2CAD-F936-628D-C931B2436CE4}"/>
              </a:ext>
            </a:extLst>
          </p:cNvPr>
          <p:cNvSpPr>
            <a:spLocks noGrp="1"/>
          </p:cNvSpPr>
          <p:nvPr>
            <p:ph idx="1"/>
          </p:nvPr>
        </p:nvSpPr>
        <p:spPr>
          <a:xfrm>
            <a:off x="4797494" y="2706624"/>
            <a:ext cx="6755626" cy="3822192"/>
          </a:xfrm>
        </p:spPr>
        <p:txBody>
          <a:bodyPr>
            <a:normAutofit fontScale="92500" lnSpcReduction="10000"/>
          </a:bodyPr>
          <a:lstStyle/>
          <a:p>
            <a:r>
              <a:rPr lang="es-BO" sz="1600" dirty="0"/>
              <a:t>El </a:t>
            </a:r>
            <a:r>
              <a:rPr lang="es-BO" sz="1600" dirty="0" err="1"/>
              <a:t>encoder</a:t>
            </a:r>
            <a:r>
              <a:rPr lang="es-BO" sz="1600" dirty="0"/>
              <a:t> es un dispositivo que se encarga de convertir el movimiento rotacional de su eje en impulsos eléctricos de onda cuadrada o senoidal, generando una cantidad de pulsos por rotación precisa a lo largo de su rotación.</a:t>
            </a:r>
          </a:p>
          <a:p>
            <a:r>
              <a:rPr lang="es-BO" sz="1600" dirty="0"/>
              <a:t>Existen dos tipos de </a:t>
            </a:r>
            <a:r>
              <a:rPr lang="es-BO" sz="1600" dirty="0" err="1"/>
              <a:t>encoder</a:t>
            </a:r>
            <a:r>
              <a:rPr lang="es-BO" sz="1600" dirty="0"/>
              <a:t>, el incremental y el absoluto, cuando un codificador incremental se enciende, no indica su posición angular hasta que se le proporciona un punto de referencia desde que lo mide. Un codificador absoluto indica sin ambigüedad su posición dentro de una escala o rango.</a:t>
            </a:r>
          </a:p>
          <a:p>
            <a:r>
              <a:rPr lang="es-BO" sz="1600" dirty="0"/>
              <a:t>Voltaje de Operación: 12 - 24 V DC</a:t>
            </a:r>
          </a:p>
          <a:p>
            <a:r>
              <a:rPr lang="es-BO" sz="1600" dirty="0"/>
              <a:t>Consumo corriente: 100 mA (</a:t>
            </a:r>
            <a:r>
              <a:rPr lang="es-BO" sz="1600" dirty="0" err="1"/>
              <a:t>max</a:t>
            </a:r>
            <a:r>
              <a:rPr lang="es-BO" sz="1600" dirty="0"/>
              <a:t>)</a:t>
            </a:r>
          </a:p>
          <a:p>
            <a:r>
              <a:rPr lang="es-BO" sz="1600" dirty="0"/>
              <a:t>Frecuencia de respuesta: 50 KHz</a:t>
            </a:r>
          </a:p>
          <a:p>
            <a:r>
              <a:rPr lang="es-BO" sz="1600" dirty="0"/>
              <a:t>Máxima velocidad: 6000 r/min</a:t>
            </a:r>
          </a:p>
          <a:p>
            <a:r>
              <a:rPr lang="es-BO" sz="1600" dirty="0"/>
              <a:t>Pulsos/rotación: 1000</a:t>
            </a:r>
          </a:p>
          <a:p>
            <a:r>
              <a:rPr lang="es-BO" sz="1600" dirty="0"/>
              <a:t>Conexiones: </a:t>
            </a:r>
            <a:r>
              <a:rPr lang="es-BO" sz="1600" dirty="0" err="1"/>
              <a:t>Vcc</a:t>
            </a:r>
            <a:r>
              <a:rPr lang="es-BO" sz="1600" dirty="0"/>
              <a:t>, GND, 0V, Fase A (Pasos), Fase B (Sentido de Giro), Fase Z (Giro completo) </a:t>
            </a:r>
          </a:p>
        </p:txBody>
      </p:sp>
    </p:spTree>
    <p:extLst>
      <p:ext uri="{BB962C8B-B14F-4D97-AF65-F5344CB8AC3E}">
        <p14:creationId xmlns:p14="http://schemas.microsoft.com/office/powerpoint/2010/main" val="2578982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6CAC81-271F-0F03-5A6B-62B07A198F40}"/>
              </a:ext>
            </a:extLst>
          </p:cNvPr>
          <p:cNvSpPr>
            <a:spLocks noGrp="1"/>
          </p:cNvSpPr>
          <p:nvPr>
            <p:ph type="title"/>
          </p:nvPr>
        </p:nvSpPr>
        <p:spPr>
          <a:xfrm>
            <a:off x="481013" y="3752849"/>
            <a:ext cx="3290887" cy="2452687"/>
          </a:xfrm>
        </p:spPr>
        <p:txBody>
          <a:bodyPr anchor="ctr">
            <a:normAutofit/>
          </a:bodyPr>
          <a:lstStyle/>
          <a:p>
            <a:r>
              <a:rPr lang="es-BO" sz="3600"/>
              <a:t>MOTOR PASO A PASO</a:t>
            </a:r>
          </a:p>
        </p:txBody>
      </p:sp>
      <p:pic>
        <p:nvPicPr>
          <p:cNvPr id="6146" name="Picture 2" descr="PROGRAMACIÓN Y ROBÓTICA: MOTORES PASO A PASO">
            <a:extLst>
              <a:ext uri="{FF2B5EF4-FFF2-40B4-BE49-F238E27FC236}">
                <a16:creationId xmlns:a16="http://schemas.microsoft.com/office/drawing/2014/main" id="{CC5C7081-F416-770B-0955-DA8DA4DA84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55"/>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32E5B179-3479-17E5-FB32-CBE6C1D8D6B2}"/>
              </a:ext>
            </a:extLst>
          </p:cNvPr>
          <p:cNvSpPr>
            <a:spLocks noGrp="1"/>
          </p:cNvSpPr>
          <p:nvPr>
            <p:ph idx="1"/>
          </p:nvPr>
        </p:nvSpPr>
        <p:spPr>
          <a:xfrm>
            <a:off x="4223982" y="3752850"/>
            <a:ext cx="7485413" cy="2452687"/>
          </a:xfrm>
        </p:spPr>
        <p:txBody>
          <a:bodyPr anchor="ctr">
            <a:normAutofit/>
          </a:bodyPr>
          <a:lstStyle/>
          <a:p>
            <a:r>
              <a:rPr lang="es-BO" sz="1800"/>
              <a:t>Un motor paso a paso es un tipo de motor eléctrico que se utiliza para convertir impulsos eléctricos en movimientos angulares discretos, conocidos como pasos.</a:t>
            </a:r>
          </a:p>
          <a:p>
            <a:r>
              <a:rPr lang="es-BO" sz="1800"/>
              <a:t>El funcionamiento básico de un motor paso a paso implica un rotor que gira en pasos discretos en respuesta a señales eléctricas que se aplican a los devanados del estator del motor. El estator contiene varias bobinas de alambre de cobre que se energizan en secuencia para crear un campo magnético que hace que el rotor gire. El número de pasos por revolución depende del número de polos magnéticos en el rotor y en el estator.</a:t>
            </a:r>
          </a:p>
        </p:txBody>
      </p:sp>
    </p:spTree>
    <p:extLst>
      <p:ext uri="{BB962C8B-B14F-4D97-AF65-F5344CB8AC3E}">
        <p14:creationId xmlns:p14="http://schemas.microsoft.com/office/powerpoint/2010/main" val="3424589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D7EDA44-7295-21F1-B2CA-9A8B58AEBB5D}"/>
              </a:ext>
            </a:extLst>
          </p:cNvPr>
          <p:cNvSpPr>
            <a:spLocks noGrp="1"/>
          </p:cNvSpPr>
          <p:nvPr>
            <p:ph type="title"/>
          </p:nvPr>
        </p:nvSpPr>
        <p:spPr>
          <a:xfrm>
            <a:off x="630936" y="639520"/>
            <a:ext cx="3429000" cy="1719072"/>
          </a:xfrm>
        </p:spPr>
        <p:txBody>
          <a:bodyPr anchor="b">
            <a:normAutofit/>
          </a:bodyPr>
          <a:lstStyle/>
          <a:p>
            <a:r>
              <a:rPr lang="es-BO" sz="5400"/>
              <a:t>NEMA</a:t>
            </a:r>
          </a:p>
        </p:txBody>
      </p:sp>
      <p:sp>
        <p:nvSpPr>
          <p:cNvPr id="717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914964A-F923-F607-3C11-FEF8C124A50F}"/>
              </a:ext>
            </a:extLst>
          </p:cNvPr>
          <p:cNvSpPr>
            <a:spLocks noGrp="1"/>
          </p:cNvSpPr>
          <p:nvPr>
            <p:ph idx="1"/>
          </p:nvPr>
        </p:nvSpPr>
        <p:spPr>
          <a:xfrm>
            <a:off x="630936" y="2807208"/>
            <a:ext cx="3429000" cy="3410712"/>
          </a:xfrm>
        </p:spPr>
        <p:txBody>
          <a:bodyPr anchor="t">
            <a:normAutofit/>
          </a:bodyPr>
          <a:lstStyle/>
          <a:p>
            <a:r>
              <a:rPr lang="es-BO" sz="2000"/>
              <a:t>Se refiere a un estándar para motores paso a paso creado por la Asociación Nacional de Fabricantes Eléctricos (NEMA). La especificación NEMA 23 define las dimensiones físicas y las características del motor, incluido el patrón de orificios de montaje, el diámetro del eje y la longitud.</a:t>
            </a:r>
          </a:p>
          <a:p>
            <a:endParaRPr lang="es-BO" sz="2000"/>
          </a:p>
        </p:txBody>
      </p:sp>
      <p:pic>
        <p:nvPicPr>
          <p:cNvPr id="7170" name="Picture 2">
            <a:extLst>
              <a:ext uri="{FF2B5EF4-FFF2-40B4-BE49-F238E27FC236}">
                <a16:creationId xmlns:a16="http://schemas.microsoft.com/office/drawing/2014/main" id="{D607D40A-3ED0-29C5-D0CE-7D803EABEF1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366514"/>
            <a:ext cx="6903720" cy="4124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025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1DCAF7-2B61-021D-77B9-61DE6BB7A460}"/>
              </a:ext>
            </a:extLst>
          </p:cNvPr>
          <p:cNvSpPr>
            <a:spLocks noGrp="1"/>
          </p:cNvSpPr>
          <p:nvPr>
            <p:ph type="title"/>
          </p:nvPr>
        </p:nvSpPr>
        <p:spPr/>
        <p:txBody>
          <a:bodyPr/>
          <a:lstStyle/>
          <a:p>
            <a:r>
              <a:rPr lang="es-BO" dirty="0"/>
              <a:t>NEMA 23</a:t>
            </a:r>
          </a:p>
        </p:txBody>
      </p:sp>
      <p:sp>
        <p:nvSpPr>
          <p:cNvPr id="3" name="Marcador de contenido 2">
            <a:extLst>
              <a:ext uri="{FF2B5EF4-FFF2-40B4-BE49-F238E27FC236}">
                <a16:creationId xmlns:a16="http://schemas.microsoft.com/office/drawing/2014/main" id="{F96E4CD0-2478-62F2-4F23-C381B36B2A4E}"/>
              </a:ext>
            </a:extLst>
          </p:cNvPr>
          <p:cNvSpPr>
            <a:spLocks noGrp="1"/>
          </p:cNvSpPr>
          <p:nvPr>
            <p:ph idx="1"/>
          </p:nvPr>
        </p:nvSpPr>
        <p:spPr/>
        <p:txBody>
          <a:bodyPr>
            <a:normAutofit fontScale="92500" lnSpcReduction="20000"/>
          </a:bodyPr>
          <a:lstStyle/>
          <a:p>
            <a:r>
              <a:rPr lang="es-BO" dirty="0"/>
              <a:t>Ángulo de paso: 1.8º</a:t>
            </a:r>
          </a:p>
          <a:p>
            <a:r>
              <a:rPr lang="es-BO" dirty="0"/>
              <a:t>Par de retención: 0.9 Nm</a:t>
            </a:r>
          </a:p>
          <a:p>
            <a:r>
              <a:rPr lang="es-BO" dirty="0"/>
              <a:t>Corriente Nominal /fase: 2.8 A</a:t>
            </a:r>
          </a:p>
          <a:p>
            <a:r>
              <a:rPr lang="es-BO" dirty="0"/>
              <a:t>Tensión de operación: 24-48 V</a:t>
            </a:r>
          </a:p>
          <a:p>
            <a:r>
              <a:rPr lang="es-BO" dirty="0"/>
              <a:t>Resistencia /fase: 0.8 ohm</a:t>
            </a:r>
          </a:p>
          <a:p>
            <a:r>
              <a:rPr lang="es-BO" dirty="0"/>
              <a:t>Inductancia /fase: 1.2 </a:t>
            </a:r>
            <a:r>
              <a:rPr lang="es-BO" dirty="0" err="1"/>
              <a:t>mH</a:t>
            </a:r>
            <a:endParaRPr lang="es-BO" dirty="0"/>
          </a:p>
          <a:p>
            <a:r>
              <a:rPr lang="es-BO" dirty="0"/>
              <a:t>Inercia del rotor: 284 g cm2</a:t>
            </a:r>
          </a:p>
          <a:p>
            <a:r>
              <a:rPr lang="es-BO" dirty="0"/>
              <a:t>Aislamiento: clase B</a:t>
            </a:r>
          </a:p>
          <a:p>
            <a:r>
              <a:rPr lang="es-BO" dirty="0"/>
              <a:t>Conexiones: 8 cables.</a:t>
            </a:r>
          </a:p>
          <a:p>
            <a:r>
              <a:rPr lang="es-BO" dirty="0"/>
              <a:t>Peso: 1.2 Kg</a:t>
            </a:r>
          </a:p>
        </p:txBody>
      </p:sp>
      <p:pic>
        <p:nvPicPr>
          <p:cNvPr id="8194" name="Picture 2">
            <a:extLst>
              <a:ext uri="{FF2B5EF4-FFF2-40B4-BE49-F238E27FC236}">
                <a16:creationId xmlns:a16="http://schemas.microsoft.com/office/drawing/2014/main" id="{2F834676-FA91-F870-3B3B-E24545BF48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25" y="1667243"/>
            <a:ext cx="4114800" cy="3604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182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227" name="Freeform: Shape 9226">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229" name="Freeform: Shape 9228">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233F2CD-BF96-A54E-4924-88F63C4B46ED}"/>
              </a:ext>
            </a:extLst>
          </p:cNvPr>
          <p:cNvSpPr>
            <a:spLocks noGrp="1"/>
          </p:cNvSpPr>
          <p:nvPr>
            <p:ph type="title"/>
          </p:nvPr>
        </p:nvSpPr>
        <p:spPr>
          <a:xfrm>
            <a:off x="438913" y="859536"/>
            <a:ext cx="4832802" cy="1243584"/>
          </a:xfrm>
        </p:spPr>
        <p:txBody>
          <a:bodyPr>
            <a:normAutofit/>
          </a:bodyPr>
          <a:lstStyle/>
          <a:p>
            <a:r>
              <a:rPr lang="es-BO" sz="3400" dirty="0"/>
              <a:t>NEMA 23 – TIPOS DE CONEXIÓN Y TERMINALES</a:t>
            </a:r>
          </a:p>
        </p:txBody>
      </p:sp>
      <p:sp>
        <p:nvSpPr>
          <p:cNvPr id="9231" name="Rectangle 9230">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233" name="Rectangle 9232">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8EF98F34-8F4A-CC3B-11AF-72EE3FF12ED4}"/>
              </a:ext>
            </a:extLst>
          </p:cNvPr>
          <p:cNvSpPr>
            <a:spLocks noGrp="1"/>
          </p:cNvSpPr>
          <p:nvPr>
            <p:ph idx="1"/>
          </p:nvPr>
        </p:nvSpPr>
        <p:spPr>
          <a:xfrm>
            <a:off x="438912" y="2512611"/>
            <a:ext cx="4832803" cy="3664351"/>
          </a:xfrm>
        </p:spPr>
        <p:txBody>
          <a:bodyPr>
            <a:normAutofit/>
          </a:bodyPr>
          <a:lstStyle/>
          <a:p>
            <a:r>
              <a:rPr lang="es-BO" sz="1700" dirty="0"/>
              <a:t>La operación serie les da más torque a bajas velocidades y menos torque a altas velocidades. Al usar la conexión serie, el motor se debe hacer funcionar con 30% menos que la corriente nominal para prevenir calentamiento excesivo. </a:t>
            </a:r>
          </a:p>
          <a:p>
            <a:endParaRPr lang="es-BO" sz="1700" dirty="0"/>
          </a:p>
          <a:p>
            <a:r>
              <a:rPr lang="es-BO" sz="1700" dirty="0"/>
              <a:t>La operación paralela permite un mayor torque en alta velocidad. Al usar la conexión paralela, la corriente se puede aumentar en 30% sobre la corriente nominal. Se debe tomar cuidado en cualquier caso para asegurarse que el motor no se está recalentando. Se muestran abajo diagramas eléctricos para motores de 8 conductores.</a:t>
            </a:r>
          </a:p>
        </p:txBody>
      </p:sp>
      <p:pic>
        <p:nvPicPr>
          <p:cNvPr id="9218" name="Picture 2">
            <a:extLst>
              <a:ext uri="{FF2B5EF4-FFF2-40B4-BE49-F238E27FC236}">
                <a16:creationId xmlns:a16="http://schemas.microsoft.com/office/drawing/2014/main" id="{0802A27A-F4F2-88E4-DB2E-8C66B9AB7DF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85364" y="517600"/>
            <a:ext cx="3599726" cy="274320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7737435B-E407-4FD5-396D-2855FE8C208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75165" y="3429000"/>
            <a:ext cx="3620124"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197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0D8728-FF32-F067-C01E-654B4C5CAD5B}"/>
              </a:ext>
            </a:extLst>
          </p:cNvPr>
          <p:cNvSpPr>
            <a:spLocks noGrp="1"/>
          </p:cNvSpPr>
          <p:nvPr>
            <p:ph type="title"/>
          </p:nvPr>
        </p:nvSpPr>
        <p:spPr/>
        <p:txBody>
          <a:bodyPr/>
          <a:lstStyle/>
          <a:p>
            <a:r>
              <a:rPr lang="es-BO" dirty="0"/>
              <a:t>NEMA 17</a:t>
            </a:r>
          </a:p>
        </p:txBody>
      </p:sp>
      <p:sp>
        <p:nvSpPr>
          <p:cNvPr id="3" name="Marcador de contenido 2">
            <a:extLst>
              <a:ext uri="{FF2B5EF4-FFF2-40B4-BE49-F238E27FC236}">
                <a16:creationId xmlns:a16="http://schemas.microsoft.com/office/drawing/2014/main" id="{85C4C477-D4C3-42C9-C476-8709B4EB1758}"/>
              </a:ext>
            </a:extLst>
          </p:cNvPr>
          <p:cNvSpPr>
            <a:spLocks noGrp="1"/>
          </p:cNvSpPr>
          <p:nvPr>
            <p:ph idx="1"/>
          </p:nvPr>
        </p:nvSpPr>
        <p:spPr/>
        <p:txBody>
          <a:bodyPr>
            <a:normAutofit fontScale="92500" lnSpcReduction="20000"/>
          </a:bodyPr>
          <a:lstStyle/>
          <a:p>
            <a:r>
              <a:rPr lang="es-BO" dirty="0"/>
              <a:t>Tamaño: 42.3×48mm, sin incluir el eje</a:t>
            </a:r>
          </a:p>
          <a:p>
            <a:r>
              <a:rPr lang="es-BO" dirty="0"/>
              <a:t>Peso: 350 gramos (13 oz)</a:t>
            </a:r>
          </a:p>
          <a:p>
            <a:r>
              <a:rPr lang="es-BO" dirty="0"/>
              <a:t>Diámetro del eje: 5 mm "D"</a:t>
            </a:r>
          </a:p>
          <a:p>
            <a:r>
              <a:rPr lang="es-BO" dirty="0"/>
              <a:t>Longitud del eje: 25 mm</a:t>
            </a:r>
          </a:p>
          <a:p>
            <a:r>
              <a:rPr lang="es-BO" dirty="0"/>
              <a:t>Pasos por vuelta: 200 (1,8º/paso)</a:t>
            </a:r>
          </a:p>
          <a:p>
            <a:r>
              <a:rPr lang="es-BO" dirty="0"/>
              <a:t>Corriente: 1.2 Amperios por bobinado</a:t>
            </a:r>
          </a:p>
          <a:p>
            <a:r>
              <a:rPr lang="es-BO" dirty="0"/>
              <a:t>Tensión: 4 V</a:t>
            </a:r>
          </a:p>
          <a:p>
            <a:r>
              <a:rPr lang="es-BO" dirty="0"/>
              <a:t>Resistencia: 3.3 Ohm por bobina</a:t>
            </a:r>
          </a:p>
          <a:p>
            <a:r>
              <a:rPr lang="es-BO" dirty="0"/>
              <a:t>Torque: 3.2 kg/cm (44 oz-in)</a:t>
            </a:r>
          </a:p>
          <a:p>
            <a:r>
              <a:rPr lang="es-BO" dirty="0"/>
              <a:t>Inductancia: 2.8 </a:t>
            </a:r>
            <a:r>
              <a:rPr lang="es-BO" dirty="0" err="1"/>
              <a:t>mH</a:t>
            </a:r>
            <a:r>
              <a:rPr lang="es-BO" dirty="0"/>
              <a:t> por bobina</a:t>
            </a:r>
          </a:p>
          <a:p>
            <a:endParaRPr lang="es-BO" dirty="0"/>
          </a:p>
        </p:txBody>
      </p:sp>
      <p:pic>
        <p:nvPicPr>
          <p:cNvPr id="10242" name="Picture 2">
            <a:extLst>
              <a:ext uri="{FF2B5EF4-FFF2-40B4-BE49-F238E27FC236}">
                <a16:creationId xmlns:a16="http://schemas.microsoft.com/office/drawing/2014/main" id="{EF030EB2-A651-1973-AB50-AADEE9D4E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8089" y="2432337"/>
            <a:ext cx="3870066" cy="3415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548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8" name="Rectangle 11272">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280" name="Freeform: Shape 1127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277" name="Freeform: Shape 1127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42F1F10-4070-0FB7-6238-5C07F34C77FE}"/>
              </a:ext>
            </a:extLst>
          </p:cNvPr>
          <p:cNvSpPr>
            <a:spLocks noGrp="1"/>
          </p:cNvSpPr>
          <p:nvPr>
            <p:ph type="title"/>
          </p:nvPr>
        </p:nvSpPr>
        <p:spPr>
          <a:xfrm>
            <a:off x="438913" y="859536"/>
            <a:ext cx="4832802" cy="1243584"/>
          </a:xfrm>
        </p:spPr>
        <p:txBody>
          <a:bodyPr>
            <a:normAutofit/>
          </a:bodyPr>
          <a:lstStyle/>
          <a:p>
            <a:r>
              <a:rPr lang="es-BO" sz="3400"/>
              <a:t>NEMA 23 – TIPOS DE CONEXIÓN Y TERMINALES</a:t>
            </a:r>
          </a:p>
        </p:txBody>
      </p:sp>
      <p:sp>
        <p:nvSpPr>
          <p:cNvPr id="11279" name="Rectangle 1127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281" name="Rectangle 1128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04FA81C6-8A96-B3D8-3E8B-DECDA97436DF}"/>
              </a:ext>
            </a:extLst>
          </p:cNvPr>
          <p:cNvSpPr>
            <a:spLocks noGrp="1"/>
          </p:cNvSpPr>
          <p:nvPr>
            <p:ph idx="1"/>
          </p:nvPr>
        </p:nvSpPr>
        <p:spPr>
          <a:xfrm>
            <a:off x="438912" y="2512611"/>
            <a:ext cx="4832803" cy="3664351"/>
          </a:xfrm>
        </p:spPr>
        <p:txBody>
          <a:bodyPr>
            <a:normAutofit/>
          </a:bodyPr>
          <a:lstStyle/>
          <a:p>
            <a:r>
              <a:rPr lang="es-BO" sz="1500" dirty="0"/>
              <a:t>Conexión Serie</a:t>
            </a:r>
          </a:p>
          <a:p>
            <a:pPr lvl="1"/>
            <a:r>
              <a:rPr lang="es-BO" sz="1500" dirty="0"/>
              <a:t>Los motores producen más torque en velocidades bajas, pero no pueden funcionar tan rápidamente como en la configuración de conexión central. En la operación en serie, el motor se debe hacer funcionar con corriente menor que la nominal en un 30% para evitar calentamiento. NC significa no conectados.</a:t>
            </a:r>
          </a:p>
          <a:p>
            <a:r>
              <a:rPr lang="es-BO" sz="1500" dirty="0"/>
              <a:t>Conexión Central</a:t>
            </a:r>
          </a:p>
          <a:p>
            <a:pPr lvl="1"/>
            <a:r>
              <a:rPr lang="es-BO" sz="1500" dirty="0"/>
              <a:t>Los motores producen mayor velocidad, pero en contraparte se reduce el torque de las mismas. En este tipo de conexión el motor puede llegar a funcionar con una corriente en 30% más que la nominal. </a:t>
            </a:r>
          </a:p>
        </p:txBody>
      </p:sp>
      <p:pic>
        <p:nvPicPr>
          <p:cNvPr id="11266" name="Picture 2">
            <a:extLst>
              <a:ext uri="{FF2B5EF4-FFF2-40B4-BE49-F238E27FC236}">
                <a16:creationId xmlns:a16="http://schemas.microsoft.com/office/drawing/2014/main" id="{D16CEFD2-56D6-6A0D-0415-92D58EFA295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51479" y="517600"/>
            <a:ext cx="3267497"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874CC9B6-D770-7D45-95B2-590BB01042F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77725" y="3429000"/>
            <a:ext cx="3415004"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8055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BD9967-6CDB-6731-D2B1-FAD05BD5D388}"/>
              </a:ext>
            </a:extLst>
          </p:cNvPr>
          <p:cNvSpPr>
            <a:spLocks noGrp="1"/>
          </p:cNvSpPr>
          <p:nvPr>
            <p:ph type="title"/>
          </p:nvPr>
        </p:nvSpPr>
        <p:spPr/>
        <p:txBody>
          <a:bodyPr/>
          <a:lstStyle/>
          <a:p>
            <a:r>
              <a:rPr lang="es-BO" dirty="0"/>
              <a:t>IDENTIFICACIÓN DE TERMINALES</a:t>
            </a:r>
          </a:p>
        </p:txBody>
      </p:sp>
      <p:sp>
        <p:nvSpPr>
          <p:cNvPr id="3" name="Marcador de contenido 2">
            <a:extLst>
              <a:ext uri="{FF2B5EF4-FFF2-40B4-BE49-F238E27FC236}">
                <a16:creationId xmlns:a16="http://schemas.microsoft.com/office/drawing/2014/main" id="{9F82487E-0D01-7971-EAA4-279D65314F99}"/>
              </a:ext>
            </a:extLst>
          </p:cNvPr>
          <p:cNvSpPr>
            <a:spLocks noGrp="1"/>
          </p:cNvSpPr>
          <p:nvPr>
            <p:ph idx="1"/>
          </p:nvPr>
        </p:nvSpPr>
        <p:spPr/>
        <p:txBody>
          <a:bodyPr>
            <a:normAutofit fontScale="92500" lnSpcReduction="10000"/>
          </a:bodyPr>
          <a:lstStyle/>
          <a:p>
            <a:r>
              <a:rPr lang="es-BO" dirty="0"/>
              <a:t>Configura el multímetro en función de la continuidad.</a:t>
            </a:r>
          </a:p>
          <a:p>
            <a:r>
              <a:rPr lang="es-BO" dirty="0"/>
              <a:t>Identifica los cables de una de las fases del motor.</a:t>
            </a:r>
          </a:p>
          <a:p>
            <a:r>
              <a:rPr lang="es-BO" dirty="0"/>
              <a:t>Colocar las puntas del multímetro en dos de los cables, por ejemplo, A+ y A-. Si el</a:t>
            </a:r>
          </a:p>
          <a:p>
            <a:r>
              <a:rPr lang="es-BO" dirty="0"/>
              <a:t>El multímetro emite un sonido o muestra una lectura de continuidad, significa que estos dos cables están conectados entre sí.</a:t>
            </a:r>
          </a:p>
          <a:p>
            <a:r>
              <a:rPr lang="es-BO" dirty="0"/>
              <a:t>Repite el paso anterior con los otros dos cables de la misma fase, por ejemplo, B+ y B-. También deberían mostrar una continuidad.</a:t>
            </a:r>
          </a:p>
          <a:p>
            <a:r>
              <a:rPr lang="es-BO" dirty="0"/>
              <a:t>Etiquetamos los cables que se identificaron correctamente como Fase 1.</a:t>
            </a:r>
          </a:p>
          <a:p>
            <a:r>
              <a:rPr lang="es-BO" dirty="0"/>
              <a:t>Repetir los pasos 2 a 5 para identificar los cables de la Fase 2, y etiquetarlos correctamente.</a:t>
            </a:r>
          </a:p>
          <a:p>
            <a:pPr marL="0" indent="0">
              <a:buNone/>
            </a:pPr>
            <a:endParaRPr lang="es-BO" dirty="0"/>
          </a:p>
          <a:p>
            <a:endParaRPr lang="es-BO" dirty="0"/>
          </a:p>
        </p:txBody>
      </p:sp>
    </p:spTree>
    <p:extLst>
      <p:ext uri="{BB962C8B-B14F-4D97-AF65-F5344CB8AC3E}">
        <p14:creationId xmlns:p14="http://schemas.microsoft.com/office/powerpoint/2010/main" val="3820642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4">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CEFE103-A5BD-EB11-195A-B18BCAAA1418}"/>
              </a:ext>
            </a:extLst>
          </p:cNvPr>
          <p:cNvSpPr>
            <a:spLocks noGrp="1"/>
          </p:cNvSpPr>
          <p:nvPr>
            <p:ph type="title"/>
          </p:nvPr>
        </p:nvSpPr>
        <p:spPr>
          <a:xfrm>
            <a:off x="630936" y="457200"/>
            <a:ext cx="4343400" cy="1929384"/>
          </a:xfrm>
        </p:spPr>
        <p:txBody>
          <a:bodyPr anchor="ctr">
            <a:normAutofit fontScale="90000"/>
          </a:bodyPr>
          <a:lstStyle/>
          <a:p>
            <a:r>
              <a:rPr lang="es-BO" sz="4800" dirty="0"/>
              <a:t>TERMINALES MOTORES PASO A PASO</a:t>
            </a:r>
          </a:p>
        </p:txBody>
      </p:sp>
      <p:sp>
        <p:nvSpPr>
          <p:cNvPr id="17"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330C3495-B22A-19EE-E883-FEF410284B14}"/>
              </a:ext>
            </a:extLst>
          </p:cNvPr>
          <p:cNvSpPr>
            <a:spLocks noGrp="1"/>
          </p:cNvSpPr>
          <p:nvPr>
            <p:ph idx="1"/>
          </p:nvPr>
        </p:nvSpPr>
        <p:spPr>
          <a:xfrm>
            <a:off x="5541263" y="457200"/>
            <a:ext cx="6007608" cy="1929384"/>
          </a:xfrm>
        </p:spPr>
        <p:txBody>
          <a:bodyPr anchor="ctr">
            <a:normAutofit/>
          </a:bodyPr>
          <a:lstStyle/>
          <a:p>
            <a:endParaRPr lang="en-US" sz="2200"/>
          </a:p>
        </p:txBody>
      </p:sp>
      <p:pic>
        <p:nvPicPr>
          <p:cNvPr id="6" name="Imagen 5">
            <a:extLst>
              <a:ext uri="{FF2B5EF4-FFF2-40B4-BE49-F238E27FC236}">
                <a16:creationId xmlns:a16="http://schemas.microsoft.com/office/drawing/2014/main" id="{7AC91885-501A-C9A3-5D5D-DCE4138EDF16}"/>
              </a:ext>
            </a:extLst>
          </p:cNvPr>
          <p:cNvPicPr>
            <a:picLocks noChangeAspect="1"/>
          </p:cNvPicPr>
          <p:nvPr/>
        </p:nvPicPr>
        <p:blipFill>
          <a:blip r:embed="rId2"/>
          <a:stretch>
            <a:fillRect/>
          </a:stretch>
        </p:blipFill>
        <p:spPr>
          <a:xfrm>
            <a:off x="466344" y="3322145"/>
            <a:ext cx="5468112" cy="2173573"/>
          </a:xfrm>
          <a:prstGeom prst="rect">
            <a:avLst/>
          </a:prstGeom>
        </p:spPr>
      </p:pic>
      <p:pic>
        <p:nvPicPr>
          <p:cNvPr id="8" name="Marcador de contenido 7">
            <a:extLst>
              <a:ext uri="{FF2B5EF4-FFF2-40B4-BE49-F238E27FC236}">
                <a16:creationId xmlns:a16="http://schemas.microsoft.com/office/drawing/2014/main" id="{DFAD8B0D-A733-8D5E-EAE9-7886E5FEDFB4}"/>
              </a:ext>
            </a:extLst>
          </p:cNvPr>
          <p:cNvPicPr>
            <a:picLocks noChangeAspect="1"/>
          </p:cNvPicPr>
          <p:nvPr/>
        </p:nvPicPr>
        <p:blipFill>
          <a:blip r:embed="rId3"/>
          <a:stretch>
            <a:fillRect/>
          </a:stretch>
        </p:blipFill>
        <p:spPr>
          <a:xfrm>
            <a:off x="6254496" y="3376826"/>
            <a:ext cx="5468112" cy="2064212"/>
          </a:xfrm>
          <a:prstGeom prst="rect">
            <a:avLst/>
          </a:prstGeom>
        </p:spPr>
      </p:pic>
    </p:spTree>
    <p:extLst>
      <p:ext uri="{BB962C8B-B14F-4D97-AF65-F5344CB8AC3E}">
        <p14:creationId xmlns:p14="http://schemas.microsoft.com/office/powerpoint/2010/main" val="1705258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electrónica, circuito&#10;&#10;Descripción generada automáticamente">
            <a:extLst>
              <a:ext uri="{FF2B5EF4-FFF2-40B4-BE49-F238E27FC236}">
                <a16:creationId xmlns:a16="http://schemas.microsoft.com/office/drawing/2014/main" id="{52575A8D-B68F-F5A4-75F0-A785E13A6007}"/>
              </a:ext>
            </a:extLst>
          </p:cNvPr>
          <p:cNvPicPr>
            <a:picLocks noChangeAspect="1"/>
          </p:cNvPicPr>
          <p:nvPr/>
        </p:nvPicPr>
        <p:blipFill rotWithShape="1">
          <a:blip r:embed="rId2"/>
          <a:srcRect l="1647" r="483"/>
          <a:stretch/>
        </p:blipFill>
        <p:spPr>
          <a:xfrm>
            <a:off x="3242695" y="10"/>
            <a:ext cx="8949307" cy="6857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p:spPr>
      </p:pic>
      <p:sp>
        <p:nvSpPr>
          <p:cNvPr id="2" name="Título 1">
            <a:extLst>
              <a:ext uri="{FF2B5EF4-FFF2-40B4-BE49-F238E27FC236}">
                <a16:creationId xmlns:a16="http://schemas.microsoft.com/office/drawing/2014/main" id="{391292FB-7A66-1239-E7D2-258E346D7ED5}"/>
              </a:ext>
            </a:extLst>
          </p:cNvPr>
          <p:cNvSpPr>
            <a:spLocks noGrp="1"/>
          </p:cNvSpPr>
          <p:nvPr>
            <p:ph type="title"/>
          </p:nvPr>
        </p:nvSpPr>
        <p:spPr>
          <a:xfrm>
            <a:off x="371094" y="1161288"/>
            <a:ext cx="3438144" cy="1125728"/>
          </a:xfrm>
        </p:spPr>
        <p:txBody>
          <a:bodyPr anchor="b">
            <a:normAutofit/>
          </a:bodyPr>
          <a:lstStyle/>
          <a:p>
            <a:r>
              <a:rPr lang="es-BO" sz="2800"/>
              <a:t>ENTRADAS Y SALIDAS PLACA</a:t>
            </a:r>
          </a:p>
        </p:txBody>
      </p:sp>
      <p:sp>
        <p:nvSpPr>
          <p:cNvPr id="3" name="Marcador de contenido 2">
            <a:extLst>
              <a:ext uri="{FF2B5EF4-FFF2-40B4-BE49-F238E27FC236}">
                <a16:creationId xmlns:a16="http://schemas.microsoft.com/office/drawing/2014/main" id="{010BE6D5-B4B5-3ED2-E754-9799E2705C06}"/>
              </a:ext>
            </a:extLst>
          </p:cNvPr>
          <p:cNvSpPr>
            <a:spLocks noGrp="1"/>
          </p:cNvSpPr>
          <p:nvPr>
            <p:ph idx="1"/>
          </p:nvPr>
        </p:nvSpPr>
        <p:spPr>
          <a:xfrm>
            <a:off x="371094" y="2718054"/>
            <a:ext cx="3438906" cy="3207258"/>
          </a:xfrm>
        </p:spPr>
        <p:txBody>
          <a:bodyPr anchor="t">
            <a:normAutofit/>
          </a:bodyPr>
          <a:lstStyle/>
          <a:p>
            <a:r>
              <a:rPr lang="es-BO" sz="1700" dirty="0"/>
              <a:t>Microcontrolador</a:t>
            </a:r>
          </a:p>
          <a:p>
            <a:r>
              <a:rPr lang="es-BO" sz="1700" dirty="0"/>
              <a:t>Dos series de borneras</a:t>
            </a:r>
          </a:p>
          <a:p>
            <a:r>
              <a:rPr lang="es-BO" sz="1700" dirty="0"/>
              <a:t>Relés</a:t>
            </a:r>
          </a:p>
          <a:p>
            <a:r>
              <a:rPr lang="es-BO" sz="1700" dirty="0"/>
              <a:t>Transistores</a:t>
            </a:r>
          </a:p>
          <a:p>
            <a:r>
              <a:rPr lang="es-BO" sz="1700" dirty="0"/>
              <a:t>Optoacopladores</a:t>
            </a:r>
          </a:p>
          <a:p>
            <a:r>
              <a:rPr lang="es-BO" sz="1700" dirty="0"/>
              <a:t>Dos conectores 2x15</a:t>
            </a:r>
          </a:p>
          <a:p>
            <a:r>
              <a:rPr lang="es-BO" sz="1700" dirty="0"/>
              <a:t>Amplificadores Darlington</a:t>
            </a:r>
          </a:p>
          <a:p>
            <a:r>
              <a:rPr lang="es-BO" sz="1700" dirty="0"/>
              <a:t>PL2303</a:t>
            </a:r>
          </a:p>
          <a:p>
            <a:r>
              <a:rPr lang="es-BO" sz="1700" dirty="0"/>
              <a:t>Conversor DC-DC</a:t>
            </a:r>
          </a:p>
          <a:p>
            <a:endParaRPr lang="es-BO" sz="1700" dirty="0"/>
          </a:p>
        </p:txBody>
      </p:sp>
    </p:spTree>
    <p:extLst>
      <p:ext uri="{BB962C8B-B14F-4D97-AF65-F5344CB8AC3E}">
        <p14:creationId xmlns:p14="http://schemas.microsoft.com/office/powerpoint/2010/main" val="3254661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C10172-AE5B-6985-7251-C41CE9846CDD}"/>
              </a:ext>
            </a:extLst>
          </p:cNvPr>
          <p:cNvSpPr>
            <a:spLocks noGrp="1"/>
          </p:cNvSpPr>
          <p:nvPr>
            <p:ph type="title"/>
          </p:nvPr>
        </p:nvSpPr>
        <p:spPr>
          <a:xfrm>
            <a:off x="841248" y="256032"/>
            <a:ext cx="10506456" cy="1014984"/>
          </a:xfrm>
        </p:spPr>
        <p:txBody>
          <a:bodyPr anchor="b">
            <a:normAutofit/>
          </a:bodyPr>
          <a:lstStyle/>
          <a:p>
            <a:r>
              <a:rPr lang="es-BO" dirty="0"/>
              <a:t>MICROCONTROLADOR PIC 16F1946</a:t>
            </a:r>
          </a:p>
        </p:txBody>
      </p:sp>
      <p:graphicFrame>
        <p:nvGraphicFramePr>
          <p:cNvPr id="6" name="Marcador de contenido 5">
            <a:extLst>
              <a:ext uri="{FF2B5EF4-FFF2-40B4-BE49-F238E27FC236}">
                <a16:creationId xmlns:a16="http://schemas.microsoft.com/office/drawing/2014/main" id="{B1B0E5F2-DDB1-0494-D602-38270C668CFD}"/>
              </a:ext>
            </a:extLst>
          </p:cNvPr>
          <p:cNvGraphicFramePr>
            <a:graphicFrameLocks noGrp="1"/>
          </p:cNvGraphicFramePr>
          <p:nvPr>
            <p:ph idx="1"/>
          </p:nvPr>
        </p:nvGraphicFramePr>
        <p:xfrm>
          <a:off x="4286150" y="3122381"/>
          <a:ext cx="5943600" cy="2651760"/>
        </p:xfrm>
        <a:graphic>
          <a:graphicData uri="http://schemas.openxmlformats.org/drawingml/2006/table">
            <a:tbl>
              <a:tblPr/>
              <a:tblGrid>
                <a:gridCol w="2971800">
                  <a:extLst>
                    <a:ext uri="{9D8B030D-6E8A-4147-A177-3AD203B41FA5}">
                      <a16:colId xmlns:a16="http://schemas.microsoft.com/office/drawing/2014/main" val="433277192"/>
                    </a:ext>
                  </a:extLst>
                </a:gridCol>
                <a:gridCol w="2971800">
                  <a:extLst>
                    <a:ext uri="{9D8B030D-6E8A-4147-A177-3AD203B41FA5}">
                      <a16:colId xmlns:a16="http://schemas.microsoft.com/office/drawing/2014/main" val="2194307887"/>
                    </a:ext>
                  </a:extLst>
                </a:gridCol>
              </a:tblGrid>
              <a:tr h="266700">
                <a:tc gridSpan="2">
                  <a:txBody>
                    <a:bodyPr/>
                    <a:lstStyle/>
                    <a:p>
                      <a:pPr algn="ctr" rtl="0" fontAlgn="t">
                        <a:spcBef>
                          <a:spcPts val="0"/>
                        </a:spcBef>
                        <a:spcAft>
                          <a:spcPts val="0"/>
                        </a:spcAft>
                      </a:pPr>
                      <a:r>
                        <a:rPr lang="es-BO" sz="1100" b="0" i="0" u="none" strike="noStrike">
                          <a:solidFill>
                            <a:srgbClr val="000000"/>
                          </a:solidFill>
                          <a:effectLst/>
                          <a:latin typeface="Arial" panose="020B0604020202020204" pitchFamily="34" charset="0"/>
                        </a:rPr>
                        <a:t>Características PIC 16F1946</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BO"/>
                    </a:p>
                  </a:txBody>
                  <a:tcPr/>
                </a:tc>
                <a:extLst>
                  <a:ext uri="{0D108BD9-81ED-4DB2-BD59-A6C34878D82A}">
                    <a16:rowId xmlns:a16="http://schemas.microsoft.com/office/drawing/2014/main" val="2425647446"/>
                  </a:ext>
                </a:extLst>
              </a:tr>
              <a:tr h="0">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Tipo de memoria</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Flash de 14KB</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6150327"/>
                  </a:ext>
                </a:extLst>
              </a:tr>
              <a:tr h="0">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Velocidad de CPU</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8 MIPS</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2031533"/>
                  </a:ext>
                </a:extLst>
              </a:tr>
              <a:tr h="0">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Entradas ADC</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17</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1475386"/>
                  </a:ext>
                </a:extLst>
              </a:tr>
              <a:tr h="0">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Resolución ADC</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10 bits</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5850290"/>
                  </a:ext>
                </a:extLst>
              </a:tr>
              <a:tr h="0">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Salidas CCP</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2</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3083334"/>
                  </a:ext>
                </a:extLst>
              </a:tr>
              <a:tr h="0">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Voltaje de operación</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1.8V - 5.5V</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1998676"/>
                  </a:ext>
                </a:extLst>
              </a:tr>
              <a:tr h="0">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Comunicaciones</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s-BO" sz="1100" b="0" i="0" u="none" strike="noStrike">
                          <a:solidFill>
                            <a:srgbClr val="000000"/>
                          </a:solidFill>
                          <a:effectLst/>
                          <a:latin typeface="Arial" panose="020B0604020202020204" pitchFamily="34" charset="0"/>
                        </a:rPr>
                        <a:t>I2C, SPI, EUSART</a:t>
                      </a:r>
                      <a:endParaRPr lang="es-BO">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7066330"/>
                  </a:ext>
                </a:extLst>
              </a:tr>
              <a:tr h="0">
                <a:tc>
                  <a:txBody>
                    <a:bodyPr/>
                    <a:lstStyle/>
                    <a:p>
                      <a:pPr rtl="0" fontAlgn="t">
                        <a:spcBef>
                          <a:spcPts val="0"/>
                        </a:spcBef>
                        <a:spcAft>
                          <a:spcPts val="0"/>
                        </a:spcAft>
                      </a:pPr>
                      <a:r>
                        <a:rPr lang="pt-BR" sz="1100" b="0" i="0" u="none" strike="noStrike">
                          <a:solidFill>
                            <a:srgbClr val="000000"/>
                          </a:solidFill>
                          <a:effectLst/>
                          <a:latin typeface="Arial" panose="020B0604020202020204" pitchFamily="34" charset="0"/>
                        </a:rPr>
                        <a:t>Número de pines I/O</a:t>
                      </a:r>
                      <a:endParaRPr lang="pt-BR">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s-BO" sz="1100" b="0" i="0" u="none" strike="noStrike" dirty="0">
                          <a:solidFill>
                            <a:srgbClr val="000000"/>
                          </a:solidFill>
                          <a:effectLst/>
                          <a:latin typeface="Arial" panose="020B0604020202020204" pitchFamily="34" charset="0"/>
                        </a:rPr>
                        <a:t>54</a:t>
                      </a:r>
                      <a:endParaRPr lang="es-BO"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7582649"/>
                  </a:ext>
                </a:extLst>
              </a:tr>
            </a:tbl>
          </a:graphicData>
        </a:graphic>
      </p:graphicFrame>
      <p:pic>
        <p:nvPicPr>
          <p:cNvPr id="1026" name="Picture 2">
            <a:extLst>
              <a:ext uri="{FF2B5EF4-FFF2-40B4-BE49-F238E27FC236}">
                <a16:creationId xmlns:a16="http://schemas.microsoft.com/office/drawing/2014/main" id="{2747FB09-5078-70CD-F22D-2D4902EB0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647295"/>
            <a:ext cx="3381375" cy="291546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F41837CE-0F32-4962-4309-38D09DEA62AD}"/>
              </a:ext>
            </a:extLst>
          </p:cNvPr>
          <p:cNvSpPr>
            <a:spLocks noChangeArrowheads="1"/>
          </p:cNvSpPr>
          <p:nvPr/>
        </p:nvSpPr>
        <p:spPr bwMode="auto">
          <a:xfrm>
            <a:off x="2317974" y="2915540"/>
            <a:ext cx="184731" cy="1061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676656" eaLnBrk="0" fontAlgn="base" hangingPunct="0">
              <a:spcBef>
                <a:spcPct val="0"/>
              </a:spcBef>
              <a:spcAft>
                <a:spcPts val="600"/>
              </a:spcAft>
            </a:pPr>
            <a:br>
              <a:rPr lang="es-BO" altLang="es-BO" sz="1332" kern="1200">
                <a:solidFill>
                  <a:schemeClr val="tx1"/>
                </a:solidFill>
                <a:latin typeface="Arial" panose="020B0604020202020204" pitchFamily="34" charset="0"/>
                <a:ea typeface="+mn-ea"/>
                <a:cs typeface="+mn-cs"/>
              </a:rPr>
            </a:br>
            <a:br>
              <a:rPr lang="es-BO" altLang="es-BO" sz="1332" kern="1200">
                <a:solidFill>
                  <a:schemeClr val="tx1"/>
                </a:solidFill>
                <a:latin typeface="Arial" panose="020B0604020202020204" pitchFamily="34" charset="0"/>
                <a:ea typeface="+mn-ea"/>
                <a:cs typeface="+mn-cs"/>
              </a:rPr>
            </a:br>
            <a:endParaRPr lang="es-BO" altLang="es-BO" sz="1332" kern="1200">
              <a:solidFill>
                <a:schemeClr val="tx1"/>
              </a:solidFill>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ts val="600"/>
              </a:spcAft>
              <a:buClrTx/>
              <a:buSzTx/>
              <a:buFontTx/>
              <a:buNone/>
              <a:tabLst/>
            </a:pPr>
            <a:endParaRPr kumimoji="0" lang="es-BO" altLang="es-B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6945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2157CF-8AB6-0929-4189-582D486DD4BE}"/>
              </a:ext>
            </a:extLst>
          </p:cNvPr>
          <p:cNvSpPr>
            <a:spLocks noGrp="1"/>
          </p:cNvSpPr>
          <p:nvPr>
            <p:ph type="title"/>
          </p:nvPr>
        </p:nvSpPr>
        <p:spPr/>
        <p:txBody>
          <a:bodyPr/>
          <a:lstStyle/>
          <a:p>
            <a:r>
              <a:rPr lang="es-BO" dirty="0"/>
              <a:t>RELÉS</a:t>
            </a:r>
          </a:p>
        </p:txBody>
      </p:sp>
      <p:sp>
        <p:nvSpPr>
          <p:cNvPr id="3" name="Marcador de contenido 2">
            <a:extLst>
              <a:ext uri="{FF2B5EF4-FFF2-40B4-BE49-F238E27FC236}">
                <a16:creationId xmlns:a16="http://schemas.microsoft.com/office/drawing/2014/main" id="{E17F0BF3-03AF-3F7C-1725-90ECE080824A}"/>
              </a:ext>
            </a:extLst>
          </p:cNvPr>
          <p:cNvSpPr>
            <a:spLocks noGrp="1"/>
          </p:cNvSpPr>
          <p:nvPr>
            <p:ph idx="1"/>
          </p:nvPr>
        </p:nvSpPr>
        <p:spPr/>
        <p:txBody>
          <a:bodyPr/>
          <a:lstStyle/>
          <a:p>
            <a:r>
              <a:rPr lang="es-BO" dirty="0"/>
              <a:t>Serie 941</a:t>
            </a:r>
          </a:p>
          <a:p>
            <a:r>
              <a:rPr lang="es-BO" dirty="0"/>
              <a:t>941H-2C-24D</a:t>
            </a:r>
          </a:p>
          <a:p>
            <a:endParaRPr lang="es-BO" dirty="0"/>
          </a:p>
        </p:txBody>
      </p:sp>
      <p:pic>
        <p:nvPicPr>
          <p:cNvPr id="5" name="Imagen 4">
            <a:extLst>
              <a:ext uri="{FF2B5EF4-FFF2-40B4-BE49-F238E27FC236}">
                <a16:creationId xmlns:a16="http://schemas.microsoft.com/office/drawing/2014/main" id="{E234ABD9-22E4-3AD1-08DB-275C5F771FE1}"/>
              </a:ext>
            </a:extLst>
          </p:cNvPr>
          <p:cNvPicPr>
            <a:picLocks noChangeAspect="1"/>
          </p:cNvPicPr>
          <p:nvPr/>
        </p:nvPicPr>
        <p:blipFill>
          <a:blip r:embed="rId2"/>
          <a:stretch>
            <a:fillRect/>
          </a:stretch>
        </p:blipFill>
        <p:spPr>
          <a:xfrm>
            <a:off x="3709408" y="681037"/>
            <a:ext cx="8297433" cy="2486372"/>
          </a:xfrm>
          <a:prstGeom prst="rect">
            <a:avLst/>
          </a:prstGeom>
        </p:spPr>
      </p:pic>
      <p:pic>
        <p:nvPicPr>
          <p:cNvPr id="7" name="Imagen 6">
            <a:extLst>
              <a:ext uri="{FF2B5EF4-FFF2-40B4-BE49-F238E27FC236}">
                <a16:creationId xmlns:a16="http://schemas.microsoft.com/office/drawing/2014/main" id="{9DB58669-2FA0-C38E-1E7C-D39BFB515F0F}"/>
              </a:ext>
            </a:extLst>
          </p:cNvPr>
          <p:cNvPicPr>
            <a:picLocks noChangeAspect="1"/>
          </p:cNvPicPr>
          <p:nvPr/>
        </p:nvPicPr>
        <p:blipFill>
          <a:blip r:embed="rId3"/>
          <a:stretch>
            <a:fillRect/>
          </a:stretch>
        </p:blipFill>
        <p:spPr>
          <a:xfrm>
            <a:off x="1585345" y="4290750"/>
            <a:ext cx="8125959" cy="1886213"/>
          </a:xfrm>
          <a:prstGeom prst="rect">
            <a:avLst/>
          </a:prstGeom>
        </p:spPr>
      </p:pic>
      <p:pic>
        <p:nvPicPr>
          <p:cNvPr id="9" name="Imagen 8">
            <a:extLst>
              <a:ext uri="{FF2B5EF4-FFF2-40B4-BE49-F238E27FC236}">
                <a16:creationId xmlns:a16="http://schemas.microsoft.com/office/drawing/2014/main" id="{448456EC-B8C7-1A22-8FDF-EAA09C4C8798}"/>
              </a:ext>
            </a:extLst>
          </p:cNvPr>
          <p:cNvPicPr>
            <a:picLocks noChangeAspect="1"/>
          </p:cNvPicPr>
          <p:nvPr/>
        </p:nvPicPr>
        <p:blipFill>
          <a:blip r:embed="rId4"/>
          <a:stretch>
            <a:fillRect/>
          </a:stretch>
        </p:blipFill>
        <p:spPr>
          <a:xfrm>
            <a:off x="1566294" y="3514278"/>
            <a:ext cx="8125959" cy="762106"/>
          </a:xfrm>
          <a:prstGeom prst="rect">
            <a:avLst/>
          </a:prstGeom>
        </p:spPr>
      </p:pic>
    </p:spTree>
    <p:extLst>
      <p:ext uri="{BB962C8B-B14F-4D97-AF65-F5344CB8AC3E}">
        <p14:creationId xmlns:p14="http://schemas.microsoft.com/office/powerpoint/2010/main" val="301189250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1288</TotalTime>
  <Words>1006</Words>
  <Application>Microsoft Office PowerPoint</Application>
  <PresentationFormat>Panorámica</PresentationFormat>
  <Paragraphs>108</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Roboto</vt:lpstr>
      <vt:lpstr>Tema de Office</vt:lpstr>
      <vt:lpstr>BRAZO ARTICULADO DE 6 GRADOS DE LIBERTAD</vt:lpstr>
      <vt:lpstr>SENSOR FINAL DE CARRERA</vt:lpstr>
      <vt:lpstr>SENSOR MAGNÉTICO</vt:lpstr>
      <vt:lpstr>SENSOR MAGNÉTICO</vt:lpstr>
      <vt:lpstr>ENCODER INCREMENTAL</vt:lpstr>
      <vt:lpstr>MOTOR PASO A PASO</vt:lpstr>
      <vt:lpstr>NEMA</vt:lpstr>
      <vt:lpstr>NEMA 23</vt:lpstr>
      <vt:lpstr>NEMA 23 – TIPOS DE CONEXIÓN Y TERMINALES</vt:lpstr>
      <vt:lpstr>NEMA 17</vt:lpstr>
      <vt:lpstr>NEMA 23 – TIPOS DE CONEXIÓN Y TERMINALES</vt:lpstr>
      <vt:lpstr>IDENTIFICACIÓN DE TERMINALES</vt:lpstr>
      <vt:lpstr>TERMINALES MOTORES PASO A PASO</vt:lpstr>
      <vt:lpstr>ENTRADAS Y SALIDAS PLACA</vt:lpstr>
      <vt:lpstr>MICROCONTROLADOR PIC 16F1946</vt:lpstr>
      <vt:lpstr>RELÉS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BRAZO ARTICULADO DE 6 GRADOS DE LIBERTAD</dc:title>
  <dc:creator>Gustavo Chávez</dc:creator>
  <cp:lastModifiedBy>HP</cp:lastModifiedBy>
  <cp:revision>3</cp:revision>
  <dcterms:created xsi:type="dcterms:W3CDTF">2023-06-06T10:07:53Z</dcterms:created>
  <dcterms:modified xsi:type="dcterms:W3CDTF">2023-06-22T18:13:10Z</dcterms:modified>
</cp:coreProperties>
</file>
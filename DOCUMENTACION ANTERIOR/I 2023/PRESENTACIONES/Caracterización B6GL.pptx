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Robo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gW6o7w3UUXKip8FTcT5EK0wXTV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6F0D17-ACF1-473F-BB3F-7A43C2C81809}">
  <a:tblStyle styleId="{F86F0D17-ACF1-473F-BB3F-7A43C2C8180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B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B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3.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BO"/>
              <a:t>BRAZO ARTICULADO DE 6 GRADOS DE LIBERTAD</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2"/>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2"/>
          <p:cNvSpPr txBox="1"/>
          <p:nvPr>
            <p:ph type="title"/>
          </p:nvPr>
        </p:nvSpPr>
        <p:spPr>
          <a:xfrm>
            <a:off x="612648" y="365125"/>
            <a:ext cx="5295015" cy="206380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BO" sz="5400"/>
              <a:t>SENSOR FINAL DE CARRERA</a:t>
            </a:r>
            <a:endParaRPr/>
          </a:p>
        </p:txBody>
      </p:sp>
      <p:sp>
        <p:nvSpPr>
          <p:cNvPr id="92" name="Google Shape;92;p2"/>
          <p:cNvSpPr/>
          <p:nvPr/>
        </p:nvSpPr>
        <p:spPr>
          <a:xfrm>
            <a:off x="838200" y="2650181"/>
            <a:ext cx="4343400" cy="18288"/>
          </a:xfrm>
          <a:custGeom>
            <a:rect b="b" l="l" r="r" t="t"/>
            <a:pathLst>
              <a:path extrusionOk="0" fill="none" h="18288" w="434340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extrusionOk="0" h="18288" w="434340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2"/>
          <p:cNvSpPr txBox="1"/>
          <p:nvPr>
            <p:ph idx="1" type="body"/>
          </p:nvPr>
        </p:nvSpPr>
        <p:spPr>
          <a:xfrm>
            <a:off x="612648" y="2908005"/>
            <a:ext cx="5295015" cy="326895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0" i="0" lang="es-BO" sz="2000" u="none" strike="noStrike">
                <a:latin typeface="Roboto"/>
                <a:ea typeface="Roboto"/>
                <a:cs typeface="Roboto"/>
                <a:sym typeface="Roboto"/>
              </a:rPr>
              <a:t>Final de Carrera SPDT, Mediano</a:t>
            </a:r>
            <a:endParaRPr b="0" sz="2000"/>
          </a:p>
          <a:p>
            <a:pPr indent="-228600" lvl="0" marL="228600" rtl="0" algn="l">
              <a:lnSpc>
                <a:spcPct val="90000"/>
              </a:lnSpc>
              <a:spcBef>
                <a:spcPts val="1100"/>
              </a:spcBef>
              <a:spcAft>
                <a:spcPts val="0"/>
              </a:spcAft>
              <a:buClr>
                <a:schemeClr val="dk1"/>
              </a:buClr>
              <a:buSzPts val="2000"/>
              <a:buChar char="•"/>
            </a:pPr>
            <a:r>
              <a:rPr b="1" i="0" lang="es-BO" sz="2000" u="none" strike="noStrike">
                <a:latin typeface="Roboto"/>
                <a:ea typeface="Roboto"/>
                <a:cs typeface="Roboto"/>
                <a:sym typeface="Roboto"/>
              </a:rPr>
              <a:t>Corriente: </a:t>
            </a:r>
            <a:r>
              <a:rPr b="0" i="0" lang="es-BO" sz="2000" u="none" strike="noStrike">
                <a:latin typeface="Roboto"/>
                <a:ea typeface="Roboto"/>
                <a:cs typeface="Roboto"/>
                <a:sym typeface="Roboto"/>
              </a:rPr>
              <a:t>5 A a 250 VAC - 3 A a 125 VAC</a:t>
            </a:r>
            <a:endParaRPr b="0" sz="2000"/>
          </a:p>
          <a:p>
            <a:pPr indent="-228600" lvl="0" marL="228600" rtl="0" algn="l">
              <a:lnSpc>
                <a:spcPct val="90000"/>
              </a:lnSpc>
              <a:spcBef>
                <a:spcPts val="2200"/>
              </a:spcBef>
              <a:spcAft>
                <a:spcPts val="0"/>
              </a:spcAft>
              <a:buClr>
                <a:schemeClr val="dk1"/>
              </a:buClr>
              <a:buSzPts val="2000"/>
              <a:buChar char="•"/>
            </a:pPr>
            <a:r>
              <a:rPr b="1" i="0" lang="es-BO" sz="2000" u="none" strike="noStrike">
                <a:latin typeface="Roboto"/>
                <a:ea typeface="Roboto"/>
                <a:cs typeface="Roboto"/>
                <a:sym typeface="Roboto"/>
              </a:rPr>
              <a:t>Polos: </a:t>
            </a:r>
            <a:r>
              <a:rPr b="0" i="0" lang="es-BO" sz="2000" u="none" strike="noStrike">
                <a:latin typeface="Roboto"/>
                <a:ea typeface="Roboto"/>
                <a:cs typeface="Roboto"/>
                <a:sym typeface="Roboto"/>
              </a:rPr>
              <a:t>SPDT</a:t>
            </a:r>
            <a:endParaRPr b="0" sz="2000"/>
          </a:p>
          <a:p>
            <a:pPr indent="-228600" lvl="0" marL="228600" rtl="0" algn="l">
              <a:lnSpc>
                <a:spcPct val="90000"/>
              </a:lnSpc>
              <a:spcBef>
                <a:spcPts val="2200"/>
              </a:spcBef>
              <a:spcAft>
                <a:spcPts val="0"/>
              </a:spcAft>
              <a:buClr>
                <a:schemeClr val="dk1"/>
              </a:buClr>
              <a:buSzPts val="2000"/>
              <a:buChar char="•"/>
            </a:pPr>
            <a:r>
              <a:rPr b="1" i="0" lang="es-BO" sz="2000" u="none" strike="noStrike">
                <a:latin typeface="Roboto"/>
                <a:ea typeface="Roboto"/>
                <a:cs typeface="Roboto"/>
                <a:sym typeface="Roboto"/>
              </a:rPr>
              <a:t>Pines: </a:t>
            </a:r>
            <a:r>
              <a:rPr b="0" i="0" lang="es-BO" sz="2000" u="none" strike="noStrike">
                <a:latin typeface="Roboto"/>
                <a:ea typeface="Roboto"/>
                <a:cs typeface="Roboto"/>
                <a:sym typeface="Roboto"/>
              </a:rPr>
              <a:t>3 (NO, COM, NC)</a:t>
            </a:r>
            <a:endParaRPr b="0" sz="2000"/>
          </a:p>
          <a:p>
            <a:pPr indent="-228600" lvl="0" marL="228600" rtl="0" algn="l">
              <a:lnSpc>
                <a:spcPct val="90000"/>
              </a:lnSpc>
              <a:spcBef>
                <a:spcPts val="2100"/>
              </a:spcBef>
              <a:spcAft>
                <a:spcPts val="0"/>
              </a:spcAft>
              <a:buClr>
                <a:schemeClr val="dk1"/>
              </a:buClr>
              <a:buSzPts val="2000"/>
              <a:buChar char="•"/>
            </a:pPr>
            <a:r>
              <a:rPr b="1" i="0" lang="es-BO" sz="2000" u="none" strike="noStrike">
                <a:latin typeface="Roboto"/>
                <a:ea typeface="Roboto"/>
                <a:cs typeface="Roboto"/>
                <a:sym typeface="Roboto"/>
              </a:rPr>
              <a:t>Largo de palanca: </a:t>
            </a:r>
            <a:r>
              <a:rPr b="0" i="0" lang="es-BO" sz="2000" u="none" strike="noStrike">
                <a:latin typeface="Roboto"/>
                <a:ea typeface="Roboto"/>
                <a:cs typeface="Roboto"/>
                <a:sym typeface="Roboto"/>
              </a:rPr>
              <a:t>19 mm</a:t>
            </a:r>
            <a:endParaRPr/>
          </a:p>
          <a:p>
            <a:pPr indent="-228600" lvl="0" marL="228600" rtl="0" algn="l">
              <a:lnSpc>
                <a:spcPct val="90000"/>
              </a:lnSpc>
              <a:spcBef>
                <a:spcPts val="1000"/>
              </a:spcBef>
              <a:spcAft>
                <a:spcPts val="0"/>
              </a:spcAft>
              <a:buClr>
                <a:schemeClr val="dk1"/>
              </a:buClr>
              <a:buSzPts val="2000"/>
              <a:buChar char="•"/>
            </a:pPr>
            <a:r>
              <a:rPr b="1" lang="es-BO" sz="2000">
                <a:latin typeface="Roboto"/>
                <a:ea typeface="Roboto"/>
                <a:cs typeface="Roboto"/>
                <a:sym typeface="Roboto"/>
              </a:rPr>
              <a:t>Tiempos de conmutación: </a:t>
            </a:r>
            <a:r>
              <a:rPr lang="es-BO" sz="2000">
                <a:latin typeface="Roboto"/>
                <a:ea typeface="Roboto"/>
                <a:cs typeface="Roboto"/>
                <a:sym typeface="Roboto"/>
              </a:rPr>
              <a:t>1,9ms</a:t>
            </a:r>
            <a:endParaRPr b="1" sz="2000"/>
          </a:p>
        </p:txBody>
      </p:sp>
      <p:pic>
        <p:nvPicPr>
          <p:cNvPr id="94" name="Google Shape;94;p2"/>
          <p:cNvPicPr preferRelativeResize="0"/>
          <p:nvPr/>
        </p:nvPicPr>
        <p:blipFill rotWithShape="1">
          <a:blip r:embed="rId3">
            <a:alphaModFix/>
          </a:blip>
          <a:srcRect b="0" l="0" r="0" t="0"/>
          <a:stretch/>
        </p:blipFill>
        <p:spPr>
          <a:xfrm>
            <a:off x="6396397" y="815258"/>
            <a:ext cx="2603605" cy="1978739"/>
          </a:xfrm>
          <a:prstGeom prst="rect">
            <a:avLst/>
          </a:prstGeom>
          <a:noFill/>
          <a:ln>
            <a:noFill/>
          </a:ln>
        </p:spPr>
      </p:pic>
      <p:pic>
        <p:nvPicPr>
          <p:cNvPr id="95" name="Google Shape;95;p2"/>
          <p:cNvPicPr preferRelativeResize="0"/>
          <p:nvPr/>
        </p:nvPicPr>
        <p:blipFill rotWithShape="1">
          <a:blip r:embed="rId4">
            <a:alphaModFix/>
          </a:blip>
          <a:srcRect b="0" l="0" r="0" t="0"/>
          <a:stretch/>
        </p:blipFill>
        <p:spPr>
          <a:xfrm>
            <a:off x="9224328" y="864075"/>
            <a:ext cx="2603605" cy="1881104"/>
          </a:xfrm>
          <a:prstGeom prst="rect">
            <a:avLst/>
          </a:prstGeom>
          <a:noFill/>
          <a:ln>
            <a:noFill/>
          </a:ln>
        </p:spPr>
      </p:pic>
      <p:pic>
        <p:nvPicPr>
          <p:cNvPr id="96" name="Google Shape;96;p2"/>
          <p:cNvPicPr preferRelativeResize="0"/>
          <p:nvPr/>
        </p:nvPicPr>
        <p:blipFill rotWithShape="1">
          <a:blip r:embed="rId5">
            <a:alphaModFix/>
          </a:blip>
          <a:srcRect b="0" l="0" r="0" t="0"/>
          <a:stretch/>
        </p:blipFill>
        <p:spPr>
          <a:xfrm>
            <a:off x="6541413" y="3426258"/>
            <a:ext cx="5141503" cy="275070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SENSOR MAGNÉTICO</a:t>
            </a:r>
            <a:endParaRPr/>
          </a:p>
        </p:txBody>
      </p:sp>
      <p:sp>
        <p:nvSpPr>
          <p:cNvPr id="102" name="Google Shape;10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03" name="Google Shape;103;p3"/>
          <p:cNvPicPr preferRelativeResize="0"/>
          <p:nvPr/>
        </p:nvPicPr>
        <p:blipFill rotWithShape="1">
          <a:blip r:embed="rId3">
            <a:alphaModFix/>
          </a:blip>
          <a:srcRect b="0" l="0" r="0" t="0"/>
          <a:stretch/>
        </p:blipFill>
        <p:spPr>
          <a:xfrm>
            <a:off x="1143025" y="2176470"/>
            <a:ext cx="6134852" cy="34508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4"/>
          <p:cNvSpPr txBox="1"/>
          <p:nvPr>
            <p:ph type="title"/>
          </p:nvPr>
        </p:nvSpPr>
        <p:spPr>
          <a:xfrm>
            <a:off x="612648" y="365125"/>
            <a:ext cx="6986015" cy="17764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BO" sz="5400"/>
              <a:t>SENSOR MAGNÉTICO</a:t>
            </a:r>
            <a:endParaRPr/>
          </a:p>
        </p:txBody>
      </p:sp>
      <p:pic>
        <p:nvPicPr>
          <p:cNvPr id="110" name="Google Shape;110;p4"/>
          <p:cNvPicPr preferRelativeResize="0"/>
          <p:nvPr/>
        </p:nvPicPr>
        <p:blipFill rotWithShape="1">
          <a:blip r:embed="rId3">
            <a:alphaModFix/>
          </a:blip>
          <a:srcRect b="4" l="2615" r="4" t="0"/>
          <a:stretch/>
        </p:blipFill>
        <p:spPr>
          <a:xfrm>
            <a:off x="8897447" y="261991"/>
            <a:ext cx="2495959" cy="1890220"/>
          </a:xfrm>
          <a:prstGeom prst="rect">
            <a:avLst/>
          </a:prstGeom>
          <a:noFill/>
          <a:ln>
            <a:noFill/>
          </a:ln>
        </p:spPr>
      </p:pic>
      <p:sp>
        <p:nvSpPr>
          <p:cNvPr id="111" name="Google Shape;111;p4"/>
          <p:cNvSpPr/>
          <p:nvPr/>
        </p:nvSpPr>
        <p:spPr>
          <a:xfrm>
            <a:off x="838200" y="2315691"/>
            <a:ext cx="4343400" cy="18288"/>
          </a:xfrm>
          <a:custGeom>
            <a:rect b="b" l="l" r="r" t="t"/>
            <a:pathLst>
              <a:path extrusionOk="0" fill="none" h="18288" w="434340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extrusionOk="0" h="18288" w="434340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2" name="Google Shape;112;p4"/>
          <p:cNvSpPr txBox="1"/>
          <p:nvPr>
            <p:ph idx="1" type="body"/>
          </p:nvPr>
        </p:nvSpPr>
        <p:spPr>
          <a:xfrm>
            <a:off x="612648" y="2504819"/>
            <a:ext cx="6986016" cy="367214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Voltaje de Operación: 6 - 36 V DC</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Consumo corriente: 300 mA</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Conexión por cable de 3 hilos (VCC, GND, Salida)</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Frecuencia de respuesta: 100 Hz</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Rango de detección: 4mm +/-10%</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Materiales detectables: Hierro/aleaciones de acero</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Diámetro: 12mm</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Longitud: 64mm</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Peso: 45 gramos</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Marrón: 6-36V DC (VCC)</a:t>
            </a:r>
            <a:endParaRPr/>
          </a:p>
          <a:p>
            <a:pPr indent="-228600" lvl="0" marL="228600" rtl="0" algn="l">
              <a:lnSpc>
                <a:spcPct val="90000"/>
              </a:lnSpc>
              <a:spcBef>
                <a:spcPts val="0"/>
              </a:spcBef>
              <a:spcAft>
                <a:spcPts val="0"/>
              </a:spcAft>
              <a:buClr>
                <a:schemeClr val="dk1"/>
              </a:buClr>
              <a:buSzPts val="2000"/>
              <a:buFont typeface="Arial"/>
              <a:buChar char="•"/>
            </a:pPr>
            <a:r>
              <a:rPr b="0" i="0" lang="es-BO" sz="2000" u="none" strike="noStrike">
                <a:latin typeface="Roboto"/>
                <a:ea typeface="Roboto"/>
                <a:cs typeface="Roboto"/>
                <a:sym typeface="Roboto"/>
              </a:rPr>
              <a:t>Negro: Salida NPN NO (Detección: GND, Reposo: VCC)</a:t>
            </a:r>
            <a:endParaRPr/>
          </a:p>
          <a:p>
            <a:pPr indent="-228600" lvl="0" marL="228600" rtl="0" algn="l">
              <a:lnSpc>
                <a:spcPct val="90000"/>
              </a:lnSpc>
              <a:spcBef>
                <a:spcPts val="900"/>
              </a:spcBef>
              <a:spcAft>
                <a:spcPts val="0"/>
              </a:spcAft>
              <a:buClr>
                <a:schemeClr val="dk1"/>
              </a:buClr>
              <a:buSzPts val="2000"/>
              <a:buFont typeface="Arial"/>
              <a:buChar char="•"/>
            </a:pPr>
            <a:r>
              <a:rPr b="0" i="0" lang="es-BO" sz="2000" u="none" strike="noStrike">
                <a:latin typeface="Roboto"/>
                <a:ea typeface="Roboto"/>
                <a:cs typeface="Roboto"/>
                <a:sym typeface="Roboto"/>
              </a:rPr>
              <a:t>Azul: GND</a:t>
            </a:r>
            <a:endParaRPr/>
          </a:p>
          <a:p>
            <a:pPr indent="-101600" lvl="0" marL="228600" rtl="0" algn="l">
              <a:lnSpc>
                <a:spcPct val="90000"/>
              </a:lnSpc>
              <a:spcBef>
                <a:spcPts val="0"/>
              </a:spcBef>
              <a:spcAft>
                <a:spcPts val="0"/>
              </a:spcAft>
              <a:buClr>
                <a:schemeClr val="dk1"/>
              </a:buClr>
              <a:buSzPts val="2000"/>
              <a:buFont typeface="Arial"/>
              <a:buNone/>
            </a:pPr>
            <a:r>
              <a:t/>
            </a:r>
            <a:endParaRPr b="0" i="0" sz="2000" u="none" strike="noStrike">
              <a:latin typeface="Roboto"/>
              <a:ea typeface="Roboto"/>
              <a:cs typeface="Roboto"/>
              <a:sym typeface="Roboto"/>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113" name="Google Shape;113;p4"/>
          <p:cNvPicPr preferRelativeResize="0"/>
          <p:nvPr/>
        </p:nvPicPr>
        <p:blipFill rotWithShape="1">
          <a:blip r:embed="rId4">
            <a:alphaModFix/>
          </a:blip>
          <a:srcRect b="9468" l="0" r="0" t="0"/>
          <a:stretch/>
        </p:blipFill>
        <p:spPr>
          <a:xfrm>
            <a:off x="8865354" y="2310086"/>
            <a:ext cx="2561872" cy="1890220"/>
          </a:xfrm>
          <a:prstGeom prst="rect">
            <a:avLst/>
          </a:prstGeom>
          <a:noFill/>
          <a:ln>
            <a:noFill/>
          </a:ln>
        </p:spPr>
      </p:pic>
      <p:pic>
        <p:nvPicPr>
          <p:cNvPr id="114" name="Google Shape;114;p4"/>
          <p:cNvPicPr preferRelativeResize="0"/>
          <p:nvPr/>
        </p:nvPicPr>
        <p:blipFill rotWithShape="1">
          <a:blip r:embed="rId5">
            <a:alphaModFix/>
          </a:blip>
          <a:srcRect b="1007" l="0" r="0" t="0"/>
          <a:stretch/>
        </p:blipFill>
        <p:spPr>
          <a:xfrm>
            <a:off x="8902338" y="4358181"/>
            <a:ext cx="2487905" cy="18902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5"/>
          <p:cNvSpPr txBox="1"/>
          <p:nvPr>
            <p:ph type="title"/>
          </p:nvPr>
        </p:nvSpPr>
        <p:spPr>
          <a:xfrm>
            <a:off x="4797501" y="329184"/>
            <a:ext cx="6755626" cy="17830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BO" sz="5400"/>
              <a:t>ENCODER INCREMENTAL</a:t>
            </a:r>
            <a:endParaRPr/>
          </a:p>
        </p:txBody>
      </p:sp>
      <p:pic>
        <p:nvPicPr>
          <p:cNvPr id="121" name="Google Shape;121;p5"/>
          <p:cNvPicPr preferRelativeResize="0"/>
          <p:nvPr/>
        </p:nvPicPr>
        <p:blipFill rotWithShape="1">
          <a:blip r:embed="rId3">
            <a:alphaModFix/>
          </a:blip>
          <a:srcRect b="0" l="0" r="0" t="0"/>
          <a:stretch/>
        </p:blipFill>
        <p:spPr>
          <a:xfrm>
            <a:off x="863708" y="0"/>
            <a:ext cx="2926880" cy="3907536"/>
          </a:xfrm>
          <a:prstGeom prst="rect">
            <a:avLst/>
          </a:prstGeom>
          <a:noFill/>
          <a:ln>
            <a:noFill/>
          </a:ln>
        </p:spPr>
      </p:pic>
      <p:sp>
        <p:nvSpPr>
          <p:cNvPr id="122" name="Google Shape;122;p5"/>
          <p:cNvSpPr/>
          <p:nvPr/>
        </p:nvSpPr>
        <p:spPr>
          <a:xfrm>
            <a:off x="4797494"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3" name="Google Shape;123;p5"/>
          <p:cNvPicPr preferRelativeResize="0"/>
          <p:nvPr/>
        </p:nvPicPr>
        <p:blipFill rotWithShape="1">
          <a:blip r:embed="rId4">
            <a:alphaModFix/>
          </a:blip>
          <a:srcRect b="0" l="0" r="0" t="0"/>
          <a:stretch/>
        </p:blipFill>
        <p:spPr>
          <a:xfrm>
            <a:off x="718029" y="4183375"/>
            <a:ext cx="2926900" cy="2098800"/>
          </a:xfrm>
          <a:prstGeom prst="rect">
            <a:avLst/>
          </a:prstGeom>
          <a:noFill/>
          <a:ln>
            <a:noFill/>
          </a:ln>
        </p:spPr>
      </p:pic>
      <p:sp>
        <p:nvSpPr>
          <p:cNvPr id="124" name="Google Shape;124;p5"/>
          <p:cNvSpPr txBox="1"/>
          <p:nvPr>
            <p:ph idx="1" type="body"/>
          </p:nvPr>
        </p:nvSpPr>
        <p:spPr>
          <a:xfrm>
            <a:off x="4797494" y="2706624"/>
            <a:ext cx="6755626" cy="382219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s-BO" sz="1600"/>
              <a:t>El encoder es un dispositivo que se encarga de convertir el movimiento rotacional de su eje en impulsos eléctricos de onda cuadrada o senoidal, generando una cantidad de pulsos por rotación precisa a lo largo de su rotación.</a:t>
            </a:r>
            <a:endParaRPr/>
          </a:p>
          <a:p>
            <a:pPr indent="-228600" lvl="0" marL="228600" rtl="0" algn="l">
              <a:lnSpc>
                <a:spcPct val="90000"/>
              </a:lnSpc>
              <a:spcBef>
                <a:spcPts val="1000"/>
              </a:spcBef>
              <a:spcAft>
                <a:spcPts val="0"/>
              </a:spcAft>
              <a:buClr>
                <a:schemeClr val="dk1"/>
              </a:buClr>
              <a:buSzPct val="100000"/>
              <a:buChar char="•"/>
            </a:pPr>
            <a:r>
              <a:rPr lang="es-BO" sz="1600"/>
              <a:t>Existen dos tipos de encoder, el incremental y el absoluto, cuando un codificador incremental se enciende, no indica su posición angular hasta que se le proporciona un punto de referencia desde que lo mide. Un codificador absoluto indica sin ambigüedad su posición dentro de una escala o rango.</a:t>
            </a:r>
            <a:endParaRPr/>
          </a:p>
          <a:p>
            <a:pPr indent="-228600" lvl="0" marL="228600" rtl="0" algn="l">
              <a:lnSpc>
                <a:spcPct val="90000"/>
              </a:lnSpc>
              <a:spcBef>
                <a:spcPts val="1000"/>
              </a:spcBef>
              <a:spcAft>
                <a:spcPts val="0"/>
              </a:spcAft>
              <a:buClr>
                <a:schemeClr val="dk1"/>
              </a:buClr>
              <a:buSzPct val="100000"/>
              <a:buChar char="•"/>
            </a:pPr>
            <a:r>
              <a:rPr lang="es-BO" sz="1600"/>
              <a:t>Voltaje de Operación: 12 - 24 V DC</a:t>
            </a:r>
            <a:endParaRPr/>
          </a:p>
          <a:p>
            <a:pPr indent="-228600" lvl="0" marL="228600" rtl="0" algn="l">
              <a:lnSpc>
                <a:spcPct val="90000"/>
              </a:lnSpc>
              <a:spcBef>
                <a:spcPts val="1000"/>
              </a:spcBef>
              <a:spcAft>
                <a:spcPts val="0"/>
              </a:spcAft>
              <a:buClr>
                <a:schemeClr val="dk1"/>
              </a:buClr>
              <a:buSzPct val="100000"/>
              <a:buChar char="•"/>
            </a:pPr>
            <a:r>
              <a:rPr lang="es-BO" sz="1600"/>
              <a:t>Consumo corriente: 100 mA (max)</a:t>
            </a:r>
            <a:endParaRPr/>
          </a:p>
          <a:p>
            <a:pPr indent="-228600" lvl="0" marL="228600" rtl="0" algn="l">
              <a:lnSpc>
                <a:spcPct val="90000"/>
              </a:lnSpc>
              <a:spcBef>
                <a:spcPts val="1000"/>
              </a:spcBef>
              <a:spcAft>
                <a:spcPts val="0"/>
              </a:spcAft>
              <a:buClr>
                <a:schemeClr val="dk1"/>
              </a:buClr>
              <a:buSzPct val="100000"/>
              <a:buChar char="•"/>
            </a:pPr>
            <a:r>
              <a:rPr lang="es-BO" sz="1600"/>
              <a:t>Frecuencia de respuesta: 50 KHz</a:t>
            </a:r>
            <a:endParaRPr/>
          </a:p>
          <a:p>
            <a:pPr indent="-228600" lvl="0" marL="228600" rtl="0" algn="l">
              <a:lnSpc>
                <a:spcPct val="90000"/>
              </a:lnSpc>
              <a:spcBef>
                <a:spcPts val="1000"/>
              </a:spcBef>
              <a:spcAft>
                <a:spcPts val="0"/>
              </a:spcAft>
              <a:buClr>
                <a:schemeClr val="dk1"/>
              </a:buClr>
              <a:buSzPct val="100000"/>
              <a:buChar char="•"/>
            </a:pPr>
            <a:r>
              <a:rPr lang="es-BO" sz="1600"/>
              <a:t>Máxima velocidad: 6000 r/min</a:t>
            </a:r>
            <a:endParaRPr/>
          </a:p>
          <a:p>
            <a:pPr indent="-228600" lvl="0" marL="228600" rtl="0" algn="l">
              <a:lnSpc>
                <a:spcPct val="90000"/>
              </a:lnSpc>
              <a:spcBef>
                <a:spcPts val="1000"/>
              </a:spcBef>
              <a:spcAft>
                <a:spcPts val="0"/>
              </a:spcAft>
              <a:buClr>
                <a:schemeClr val="dk1"/>
              </a:buClr>
              <a:buSzPct val="100000"/>
              <a:buChar char="•"/>
            </a:pPr>
            <a:r>
              <a:rPr lang="es-BO" sz="1600"/>
              <a:t>Pulsos/rotación: 1000</a:t>
            </a:r>
            <a:endParaRPr/>
          </a:p>
          <a:p>
            <a:pPr indent="-228600" lvl="0" marL="228600" rtl="0" algn="l">
              <a:lnSpc>
                <a:spcPct val="90000"/>
              </a:lnSpc>
              <a:spcBef>
                <a:spcPts val="1000"/>
              </a:spcBef>
              <a:spcAft>
                <a:spcPts val="0"/>
              </a:spcAft>
              <a:buClr>
                <a:schemeClr val="dk1"/>
              </a:buClr>
              <a:buSzPct val="100000"/>
              <a:buChar char="•"/>
            </a:pPr>
            <a:r>
              <a:rPr lang="es-BO" sz="1600"/>
              <a:t>Conexiones: Vcc, GND, 0V, Fase A (Pasos), Fase B (Sentido de Giro), Fase Z (Giro completo)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8" name="Shape 128"/>
        <p:cNvGrpSpPr/>
        <p:nvPr/>
      </p:nvGrpSpPr>
      <p:grpSpPr>
        <a:xfrm>
          <a:off x="0" y="0"/>
          <a:ext cx="0" cy="0"/>
          <a:chOff x="0" y="0"/>
          <a:chExt cx="0" cy="0"/>
        </a:xfrm>
      </p:grpSpPr>
      <p:sp>
        <p:nvSpPr>
          <p:cNvPr id="129" name="Google Shape;129;p6"/>
          <p:cNvSpPr txBox="1"/>
          <p:nvPr>
            <p:ph type="title"/>
          </p:nvPr>
        </p:nvSpPr>
        <p:spPr>
          <a:xfrm>
            <a:off x="481013" y="3752849"/>
            <a:ext cx="3290887" cy="24526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s-BO" sz="3600"/>
              <a:t>MOTOR PASO A PASO</a:t>
            </a:r>
            <a:endParaRPr/>
          </a:p>
        </p:txBody>
      </p:sp>
      <p:pic>
        <p:nvPicPr>
          <p:cNvPr descr="PROGRAMACIÓN Y ROBÓTICA: MOTORES PASO A PASO" id="130" name="Google Shape;130;p6"/>
          <p:cNvPicPr preferRelativeResize="0"/>
          <p:nvPr/>
        </p:nvPicPr>
        <p:blipFill rotWithShape="1">
          <a:blip r:embed="rId3">
            <a:alphaModFix/>
          </a:blip>
          <a:srcRect b="0" l="0" r="0" t="6355"/>
          <a:stretch/>
        </p:blipFill>
        <p:spPr>
          <a:xfrm>
            <a:off x="20" y="10"/>
            <a:ext cx="12191980" cy="3710603"/>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sp>
        <p:nvSpPr>
          <p:cNvPr id="131" name="Google Shape;131;p6"/>
          <p:cNvSpPr txBox="1"/>
          <p:nvPr>
            <p:ph idx="1" type="body"/>
          </p:nvPr>
        </p:nvSpPr>
        <p:spPr>
          <a:xfrm>
            <a:off x="4223982" y="3752850"/>
            <a:ext cx="7485413" cy="245268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s-BO" sz="1800"/>
              <a:t>Un motor paso a paso es un tipo de motor eléctrico que se utiliza para convertir impulsos eléctricos en movimientos angulares discretos, conocidos como pasos.</a:t>
            </a:r>
            <a:endParaRPr/>
          </a:p>
          <a:p>
            <a:pPr indent="-228600" lvl="0" marL="228600" rtl="0" algn="l">
              <a:lnSpc>
                <a:spcPct val="90000"/>
              </a:lnSpc>
              <a:spcBef>
                <a:spcPts val="1000"/>
              </a:spcBef>
              <a:spcAft>
                <a:spcPts val="0"/>
              </a:spcAft>
              <a:buClr>
                <a:schemeClr val="dk1"/>
              </a:buClr>
              <a:buSzPts val="1800"/>
              <a:buChar char="•"/>
            </a:pPr>
            <a:r>
              <a:rPr lang="es-BO" sz="1800"/>
              <a:t>El funcionamiento básico de un motor paso a paso implica un rotor que gira en pasos discretos en respuesta a señales eléctricas que se aplican a los devanados del estator del motor. El estator contiene varias bobinas de alambre de cobre que se energizan en secuencia para crear un campo magnético que hace que el rotor gire. El número de pasos por revolución depende del número de polos magnéticos en el rotor y en el estator.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 name="Shape 135"/>
        <p:cNvGrpSpPr/>
        <p:nvPr/>
      </p:nvGrpSpPr>
      <p:grpSpPr>
        <a:xfrm>
          <a:off x="0" y="0"/>
          <a:ext cx="0" cy="0"/>
          <a:chOff x="0" y="0"/>
          <a:chExt cx="0" cy="0"/>
        </a:xfrm>
      </p:grpSpPr>
      <p:sp>
        <p:nvSpPr>
          <p:cNvPr id="136" name="Google Shape;136;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7"/>
          <p:cNvSpPr txBox="1"/>
          <p:nvPr>
            <p:ph type="title"/>
          </p:nvPr>
        </p:nvSpPr>
        <p:spPr>
          <a:xfrm>
            <a:off x="630936" y="639520"/>
            <a:ext cx="3429000" cy="171907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s-BO" sz="5400"/>
              <a:t>NEMA</a:t>
            </a:r>
            <a:endParaRPr/>
          </a:p>
        </p:txBody>
      </p:sp>
      <p:sp>
        <p:nvSpPr>
          <p:cNvPr id="138" name="Google Shape;138;p7"/>
          <p:cNvSpPr/>
          <p:nvPr/>
        </p:nvSpPr>
        <p:spPr>
          <a:xfrm>
            <a:off x="643278" y="2573756"/>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7"/>
          <p:cNvSpPr txBox="1"/>
          <p:nvPr>
            <p:ph idx="1" type="body"/>
          </p:nvPr>
        </p:nvSpPr>
        <p:spPr>
          <a:xfrm>
            <a:off x="630936" y="2807208"/>
            <a:ext cx="3429000" cy="34107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s-BO" sz="2000"/>
              <a:t>Se refiere a un estándar para motores paso a paso creado por la Asociación Nacional de Fabricantes Eléctricos (NEMA). La especificación NEMA 23 define las dimensiones físicas y las características del motor, incluido el patrón de orificios de montaje, el diámetro del eje y la longitud.</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id="140" name="Google Shape;140;p7"/>
          <p:cNvPicPr preferRelativeResize="0"/>
          <p:nvPr/>
        </p:nvPicPr>
        <p:blipFill rotWithShape="1">
          <a:blip r:embed="rId3">
            <a:alphaModFix/>
          </a:blip>
          <a:srcRect b="0" l="0" r="0" t="0"/>
          <a:stretch/>
        </p:blipFill>
        <p:spPr>
          <a:xfrm>
            <a:off x="4654296" y="1366514"/>
            <a:ext cx="6903720" cy="412497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NEMA 23</a:t>
            </a:r>
            <a:endParaRPr/>
          </a:p>
        </p:txBody>
      </p:sp>
      <p:sp>
        <p:nvSpPr>
          <p:cNvPr id="146" name="Google Shape;146;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s-BO"/>
              <a:t>Ángulo de paso: 1.8º</a:t>
            </a:r>
            <a:endParaRPr/>
          </a:p>
          <a:p>
            <a:pPr indent="-228600" lvl="0" marL="228600" rtl="0" algn="l">
              <a:lnSpc>
                <a:spcPct val="90000"/>
              </a:lnSpc>
              <a:spcBef>
                <a:spcPts val="1000"/>
              </a:spcBef>
              <a:spcAft>
                <a:spcPts val="0"/>
              </a:spcAft>
              <a:buClr>
                <a:schemeClr val="dk1"/>
              </a:buClr>
              <a:buSzPct val="100000"/>
              <a:buChar char="•"/>
            </a:pPr>
            <a:r>
              <a:rPr lang="es-BO"/>
              <a:t>Par de retención: 0.9 Nm</a:t>
            </a:r>
            <a:endParaRPr/>
          </a:p>
          <a:p>
            <a:pPr indent="-228600" lvl="0" marL="228600" rtl="0" algn="l">
              <a:lnSpc>
                <a:spcPct val="90000"/>
              </a:lnSpc>
              <a:spcBef>
                <a:spcPts val="1000"/>
              </a:spcBef>
              <a:spcAft>
                <a:spcPts val="0"/>
              </a:spcAft>
              <a:buClr>
                <a:schemeClr val="dk1"/>
              </a:buClr>
              <a:buSzPct val="100000"/>
              <a:buChar char="•"/>
            </a:pPr>
            <a:r>
              <a:rPr lang="es-BO"/>
              <a:t>Corriente Nominal /fase: 2.8 A</a:t>
            </a:r>
            <a:endParaRPr/>
          </a:p>
          <a:p>
            <a:pPr indent="-228600" lvl="0" marL="228600" rtl="0" algn="l">
              <a:lnSpc>
                <a:spcPct val="90000"/>
              </a:lnSpc>
              <a:spcBef>
                <a:spcPts val="1000"/>
              </a:spcBef>
              <a:spcAft>
                <a:spcPts val="0"/>
              </a:spcAft>
              <a:buClr>
                <a:schemeClr val="dk1"/>
              </a:buClr>
              <a:buSzPct val="100000"/>
              <a:buChar char="•"/>
            </a:pPr>
            <a:r>
              <a:rPr lang="es-BO"/>
              <a:t>Tensión de operación: 24-48 V</a:t>
            </a:r>
            <a:endParaRPr/>
          </a:p>
          <a:p>
            <a:pPr indent="-228600" lvl="0" marL="228600" rtl="0" algn="l">
              <a:lnSpc>
                <a:spcPct val="90000"/>
              </a:lnSpc>
              <a:spcBef>
                <a:spcPts val="1000"/>
              </a:spcBef>
              <a:spcAft>
                <a:spcPts val="0"/>
              </a:spcAft>
              <a:buClr>
                <a:schemeClr val="dk1"/>
              </a:buClr>
              <a:buSzPct val="100000"/>
              <a:buChar char="•"/>
            </a:pPr>
            <a:r>
              <a:rPr lang="es-BO"/>
              <a:t>Resistencia /fase: 0.8 ohm</a:t>
            </a:r>
            <a:endParaRPr/>
          </a:p>
          <a:p>
            <a:pPr indent="-228600" lvl="0" marL="228600" rtl="0" algn="l">
              <a:lnSpc>
                <a:spcPct val="90000"/>
              </a:lnSpc>
              <a:spcBef>
                <a:spcPts val="1000"/>
              </a:spcBef>
              <a:spcAft>
                <a:spcPts val="0"/>
              </a:spcAft>
              <a:buClr>
                <a:schemeClr val="dk1"/>
              </a:buClr>
              <a:buSzPct val="100000"/>
              <a:buChar char="•"/>
            </a:pPr>
            <a:r>
              <a:rPr lang="es-BO"/>
              <a:t>Inductancia /fase: 1.2 mH</a:t>
            </a:r>
            <a:endParaRPr/>
          </a:p>
          <a:p>
            <a:pPr indent="-228600" lvl="0" marL="228600" rtl="0" algn="l">
              <a:lnSpc>
                <a:spcPct val="90000"/>
              </a:lnSpc>
              <a:spcBef>
                <a:spcPts val="1000"/>
              </a:spcBef>
              <a:spcAft>
                <a:spcPts val="0"/>
              </a:spcAft>
              <a:buClr>
                <a:schemeClr val="dk1"/>
              </a:buClr>
              <a:buSzPct val="100000"/>
              <a:buChar char="•"/>
            </a:pPr>
            <a:r>
              <a:rPr lang="es-BO"/>
              <a:t>Inercia del rotor: 284 g cm2</a:t>
            </a:r>
            <a:endParaRPr/>
          </a:p>
          <a:p>
            <a:pPr indent="-228600" lvl="0" marL="228600" rtl="0" algn="l">
              <a:lnSpc>
                <a:spcPct val="90000"/>
              </a:lnSpc>
              <a:spcBef>
                <a:spcPts val="1000"/>
              </a:spcBef>
              <a:spcAft>
                <a:spcPts val="0"/>
              </a:spcAft>
              <a:buClr>
                <a:schemeClr val="dk1"/>
              </a:buClr>
              <a:buSzPct val="100000"/>
              <a:buChar char="•"/>
            </a:pPr>
            <a:r>
              <a:rPr lang="es-BO"/>
              <a:t>Aislamiento: clase B</a:t>
            </a:r>
            <a:endParaRPr/>
          </a:p>
          <a:p>
            <a:pPr indent="-228600" lvl="0" marL="228600" rtl="0" algn="l">
              <a:lnSpc>
                <a:spcPct val="90000"/>
              </a:lnSpc>
              <a:spcBef>
                <a:spcPts val="1000"/>
              </a:spcBef>
              <a:spcAft>
                <a:spcPts val="0"/>
              </a:spcAft>
              <a:buClr>
                <a:schemeClr val="dk1"/>
              </a:buClr>
              <a:buSzPct val="100000"/>
              <a:buChar char="•"/>
            </a:pPr>
            <a:r>
              <a:rPr lang="es-BO"/>
              <a:t>Conexiones: 8 cables.</a:t>
            </a:r>
            <a:endParaRPr/>
          </a:p>
          <a:p>
            <a:pPr indent="-228600" lvl="0" marL="228600" rtl="0" algn="l">
              <a:lnSpc>
                <a:spcPct val="90000"/>
              </a:lnSpc>
              <a:spcBef>
                <a:spcPts val="1000"/>
              </a:spcBef>
              <a:spcAft>
                <a:spcPts val="0"/>
              </a:spcAft>
              <a:buClr>
                <a:schemeClr val="dk1"/>
              </a:buClr>
              <a:buSzPct val="100000"/>
              <a:buChar char="•"/>
            </a:pPr>
            <a:r>
              <a:rPr lang="es-BO"/>
              <a:t>Peso: 1.2 Kg</a:t>
            </a:r>
            <a:endParaRPr/>
          </a:p>
        </p:txBody>
      </p:sp>
      <p:pic>
        <p:nvPicPr>
          <p:cNvPr id="147" name="Google Shape;147;p8"/>
          <p:cNvPicPr preferRelativeResize="0"/>
          <p:nvPr/>
        </p:nvPicPr>
        <p:blipFill rotWithShape="1">
          <a:blip r:embed="rId3">
            <a:alphaModFix/>
          </a:blip>
          <a:srcRect b="0" l="0" r="0" t="0"/>
          <a:stretch/>
        </p:blipFill>
        <p:spPr>
          <a:xfrm>
            <a:off x="6905625" y="1667243"/>
            <a:ext cx="4114800" cy="360484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9"/>
          <p:cNvSpPr/>
          <p:nvPr/>
        </p:nvSpPr>
        <p:spPr>
          <a:xfrm>
            <a:off x="-1" y="0"/>
            <a:ext cx="6096002" cy="6858000"/>
          </a:xfrm>
          <a:custGeom>
            <a:rect b="b" l="l" r="r" t="t"/>
            <a:pathLst>
              <a:path extrusionOk="0" h="6858000" w="6096002">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4" name="Google Shape;154;p9"/>
          <p:cNvSpPr/>
          <p:nvPr/>
        </p:nvSpPr>
        <p:spPr>
          <a:xfrm>
            <a:off x="0" y="0"/>
            <a:ext cx="6085370" cy="6858000"/>
          </a:xfrm>
          <a:custGeom>
            <a:rect b="b" l="l" r="r" t="t"/>
            <a:pathLst>
              <a:path extrusionOk="0" h="6858000" w="608537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5" name="Google Shape;155;p9"/>
          <p:cNvSpPr txBox="1"/>
          <p:nvPr>
            <p:ph type="title"/>
          </p:nvPr>
        </p:nvSpPr>
        <p:spPr>
          <a:xfrm>
            <a:off x="438913" y="859536"/>
            <a:ext cx="4832802" cy="1243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Calibri"/>
              <a:buNone/>
            </a:pPr>
            <a:r>
              <a:rPr lang="es-BO" sz="3400"/>
              <a:t>NEMA 23 – TIPOS DE CONEXIÓN Y TERMINALES</a:t>
            </a:r>
            <a:endParaRPr/>
          </a:p>
        </p:txBody>
      </p:sp>
      <p:sp>
        <p:nvSpPr>
          <p:cNvPr id="156" name="Google Shape;156;p9"/>
          <p:cNvSpPr/>
          <p:nvPr/>
        </p:nvSpPr>
        <p:spPr>
          <a:xfrm>
            <a:off x="0" y="1152144"/>
            <a:ext cx="128016" cy="65390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57" name="Google Shape;157;p9"/>
          <p:cNvSpPr/>
          <p:nvPr/>
        </p:nvSpPr>
        <p:spPr>
          <a:xfrm>
            <a:off x="438912" y="2185062"/>
            <a:ext cx="498348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58" name="Google Shape;158;p9"/>
          <p:cNvSpPr txBox="1"/>
          <p:nvPr>
            <p:ph idx="1" type="body"/>
          </p:nvPr>
        </p:nvSpPr>
        <p:spPr>
          <a:xfrm>
            <a:off x="438912" y="2512611"/>
            <a:ext cx="4832803" cy="36643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s-BO" sz="1700"/>
              <a:t>La operación serie les da más torque a bajas velocidades y menos torque a altas velocidades. Al usar la conexión serie, el motor se debe hacer funcionar con 30% menos que la corriente nominal para prevenir calentamiento excesivo. </a:t>
            </a:r>
            <a:endParaRPr/>
          </a:p>
          <a:p>
            <a:pPr indent="-120650" lvl="0" marL="228600" rtl="0" algn="l">
              <a:lnSpc>
                <a:spcPct val="90000"/>
              </a:lnSpc>
              <a:spcBef>
                <a:spcPts val="1000"/>
              </a:spcBef>
              <a:spcAft>
                <a:spcPts val="0"/>
              </a:spcAft>
              <a:buClr>
                <a:schemeClr val="dk1"/>
              </a:buClr>
              <a:buSzPts val="1700"/>
              <a:buNone/>
            </a:pPr>
            <a:r>
              <a:t/>
            </a:r>
            <a:endParaRPr sz="1700"/>
          </a:p>
          <a:p>
            <a:pPr indent="-228600" lvl="0" marL="228600" rtl="0" algn="l">
              <a:lnSpc>
                <a:spcPct val="90000"/>
              </a:lnSpc>
              <a:spcBef>
                <a:spcPts val="1000"/>
              </a:spcBef>
              <a:spcAft>
                <a:spcPts val="0"/>
              </a:spcAft>
              <a:buClr>
                <a:schemeClr val="dk1"/>
              </a:buClr>
              <a:buSzPts val="1700"/>
              <a:buChar char="•"/>
            </a:pPr>
            <a:r>
              <a:rPr lang="es-BO" sz="1700"/>
              <a:t>La operación paralela permite un mayor torque en alta velocidad. Al usar la conexión paralela, la corriente se puede aumentar en 30% sobre la corriente nominal. Se debe tomar cuidado en cualquier caso para asegurarse que el motor no se está recalentando. Se muestran abajo diagramas eléctricos para motores de 8 conductores.</a:t>
            </a:r>
            <a:endParaRPr/>
          </a:p>
        </p:txBody>
      </p:sp>
      <p:pic>
        <p:nvPicPr>
          <p:cNvPr id="159" name="Google Shape;159;p9"/>
          <p:cNvPicPr preferRelativeResize="0"/>
          <p:nvPr/>
        </p:nvPicPr>
        <p:blipFill rotWithShape="1">
          <a:blip r:embed="rId3">
            <a:alphaModFix/>
          </a:blip>
          <a:srcRect b="0" l="0" r="0" t="0"/>
          <a:stretch/>
        </p:blipFill>
        <p:spPr>
          <a:xfrm>
            <a:off x="7385364" y="517600"/>
            <a:ext cx="3599726" cy="2743200"/>
          </a:xfrm>
          <a:prstGeom prst="rect">
            <a:avLst/>
          </a:prstGeom>
          <a:noFill/>
          <a:ln>
            <a:noFill/>
          </a:ln>
        </p:spPr>
      </p:pic>
      <p:pic>
        <p:nvPicPr>
          <p:cNvPr id="160" name="Google Shape;160;p9"/>
          <p:cNvPicPr preferRelativeResize="0"/>
          <p:nvPr/>
        </p:nvPicPr>
        <p:blipFill rotWithShape="1">
          <a:blip r:embed="rId4">
            <a:alphaModFix/>
          </a:blip>
          <a:srcRect b="0" l="0" r="0" t="0"/>
          <a:stretch/>
        </p:blipFill>
        <p:spPr>
          <a:xfrm>
            <a:off x="7375165" y="3429000"/>
            <a:ext cx="3620124" cy="274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NEMA 17</a:t>
            </a:r>
            <a:endParaRPr/>
          </a:p>
        </p:txBody>
      </p:sp>
      <p:sp>
        <p:nvSpPr>
          <p:cNvPr id="166" name="Google Shape;166;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s-BO"/>
              <a:t>Tamaño: 42.3×48mm, sin incluir el eje</a:t>
            </a:r>
            <a:endParaRPr/>
          </a:p>
          <a:p>
            <a:pPr indent="-228600" lvl="0" marL="228600" rtl="0" algn="l">
              <a:lnSpc>
                <a:spcPct val="90000"/>
              </a:lnSpc>
              <a:spcBef>
                <a:spcPts val="1000"/>
              </a:spcBef>
              <a:spcAft>
                <a:spcPts val="0"/>
              </a:spcAft>
              <a:buClr>
                <a:schemeClr val="dk1"/>
              </a:buClr>
              <a:buSzPct val="100000"/>
              <a:buChar char="•"/>
            </a:pPr>
            <a:r>
              <a:rPr lang="es-BO"/>
              <a:t>Peso: 350 gramos (13 oz)</a:t>
            </a:r>
            <a:endParaRPr/>
          </a:p>
          <a:p>
            <a:pPr indent="-228600" lvl="0" marL="228600" rtl="0" algn="l">
              <a:lnSpc>
                <a:spcPct val="90000"/>
              </a:lnSpc>
              <a:spcBef>
                <a:spcPts val="1000"/>
              </a:spcBef>
              <a:spcAft>
                <a:spcPts val="0"/>
              </a:spcAft>
              <a:buClr>
                <a:schemeClr val="dk1"/>
              </a:buClr>
              <a:buSzPct val="100000"/>
              <a:buChar char="•"/>
            </a:pPr>
            <a:r>
              <a:rPr lang="es-BO"/>
              <a:t>Diámetro del eje: 5 mm "D"</a:t>
            </a:r>
            <a:endParaRPr/>
          </a:p>
          <a:p>
            <a:pPr indent="-228600" lvl="0" marL="228600" rtl="0" algn="l">
              <a:lnSpc>
                <a:spcPct val="90000"/>
              </a:lnSpc>
              <a:spcBef>
                <a:spcPts val="1000"/>
              </a:spcBef>
              <a:spcAft>
                <a:spcPts val="0"/>
              </a:spcAft>
              <a:buClr>
                <a:schemeClr val="dk1"/>
              </a:buClr>
              <a:buSzPct val="100000"/>
              <a:buChar char="•"/>
            </a:pPr>
            <a:r>
              <a:rPr lang="es-BO"/>
              <a:t>Longitud del eje: 25 mm</a:t>
            </a:r>
            <a:endParaRPr/>
          </a:p>
          <a:p>
            <a:pPr indent="-228600" lvl="0" marL="228600" rtl="0" algn="l">
              <a:lnSpc>
                <a:spcPct val="90000"/>
              </a:lnSpc>
              <a:spcBef>
                <a:spcPts val="1000"/>
              </a:spcBef>
              <a:spcAft>
                <a:spcPts val="0"/>
              </a:spcAft>
              <a:buClr>
                <a:schemeClr val="dk1"/>
              </a:buClr>
              <a:buSzPct val="100000"/>
              <a:buChar char="•"/>
            </a:pPr>
            <a:r>
              <a:rPr lang="es-BO"/>
              <a:t>Pasos por vuelta: 200 (1,8º/paso)</a:t>
            </a:r>
            <a:endParaRPr/>
          </a:p>
          <a:p>
            <a:pPr indent="-228600" lvl="0" marL="228600" rtl="0" algn="l">
              <a:lnSpc>
                <a:spcPct val="90000"/>
              </a:lnSpc>
              <a:spcBef>
                <a:spcPts val="1000"/>
              </a:spcBef>
              <a:spcAft>
                <a:spcPts val="0"/>
              </a:spcAft>
              <a:buClr>
                <a:schemeClr val="dk1"/>
              </a:buClr>
              <a:buSzPct val="100000"/>
              <a:buChar char="•"/>
            </a:pPr>
            <a:r>
              <a:rPr lang="es-BO"/>
              <a:t>Corriente: 1.2 Amperios por bobinado</a:t>
            </a:r>
            <a:endParaRPr/>
          </a:p>
          <a:p>
            <a:pPr indent="-228600" lvl="0" marL="228600" rtl="0" algn="l">
              <a:lnSpc>
                <a:spcPct val="90000"/>
              </a:lnSpc>
              <a:spcBef>
                <a:spcPts val="1000"/>
              </a:spcBef>
              <a:spcAft>
                <a:spcPts val="0"/>
              </a:spcAft>
              <a:buClr>
                <a:schemeClr val="dk1"/>
              </a:buClr>
              <a:buSzPct val="100000"/>
              <a:buChar char="•"/>
            </a:pPr>
            <a:r>
              <a:rPr lang="es-BO"/>
              <a:t>Tensión: 4 V</a:t>
            </a:r>
            <a:endParaRPr/>
          </a:p>
          <a:p>
            <a:pPr indent="-228600" lvl="0" marL="228600" rtl="0" algn="l">
              <a:lnSpc>
                <a:spcPct val="90000"/>
              </a:lnSpc>
              <a:spcBef>
                <a:spcPts val="1000"/>
              </a:spcBef>
              <a:spcAft>
                <a:spcPts val="0"/>
              </a:spcAft>
              <a:buClr>
                <a:schemeClr val="dk1"/>
              </a:buClr>
              <a:buSzPct val="100000"/>
              <a:buChar char="•"/>
            </a:pPr>
            <a:r>
              <a:rPr lang="es-BO"/>
              <a:t>Resistencia: 3.3 Ohm por bobina</a:t>
            </a:r>
            <a:endParaRPr/>
          </a:p>
          <a:p>
            <a:pPr indent="-228600" lvl="0" marL="228600" rtl="0" algn="l">
              <a:lnSpc>
                <a:spcPct val="90000"/>
              </a:lnSpc>
              <a:spcBef>
                <a:spcPts val="1000"/>
              </a:spcBef>
              <a:spcAft>
                <a:spcPts val="0"/>
              </a:spcAft>
              <a:buClr>
                <a:schemeClr val="dk1"/>
              </a:buClr>
              <a:buSzPct val="100000"/>
              <a:buChar char="•"/>
            </a:pPr>
            <a:r>
              <a:rPr lang="es-BO"/>
              <a:t>Torque: 3.2 kg/cm (44 oz-in)</a:t>
            </a:r>
            <a:endParaRPr/>
          </a:p>
          <a:p>
            <a:pPr indent="-228600" lvl="0" marL="228600" rtl="0" algn="l">
              <a:lnSpc>
                <a:spcPct val="90000"/>
              </a:lnSpc>
              <a:spcBef>
                <a:spcPts val="1000"/>
              </a:spcBef>
              <a:spcAft>
                <a:spcPts val="0"/>
              </a:spcAft>
              <a:buClr>
                <a:schemeClr val="dk1"/>
              </a:buClr>
              <a:buSzPct val="100000"/>
              <a:buChar char="•"/>
            </a:pPr>
            <a:r>
              <a:rPr lang="es-BO"/>
              <a:t>Inductancia: 2.8 mH por bobina</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167" name="Google Shape;167;p10"/>
          <p:cNvPicPr preferRelativeResize="0"/>
          <p:nvPr/>
        </p:nvPicPr>
        <p:blipFill rotWithShape="1">
          <a:blip r:embed="rId3">
            <a:alphaModFix/>
          </a:blip>
          <a:srcRect b="0" l="0" r="0" t="0"/>
          <a:stretch/>
        </p:blipFill>
        <p:spPr>
          <a:xfrm>
            <a:off x="7028089" y="2432337"/>
            <a:ext cx="3870066" cy="341552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1" name="Shape 171"/>
        <p:cNvGrpSpPr/>
        <p:nvPr/>
      </p:nvGrpSpPr>
      <p:grpSpPr>
        <a:xfrm>
          <a:off x="0" y="0"/>
          <a:ext cx="0" cy="0"/>
          <a:chOff x="0" y="0"/>
          <a:chExt cx="0" cy="0"/>
        </a:xfrm>
      </p:grpSpPr>
      <p:sp>
        <p:nvSpPr>
          <p:cNvPr id="172" name="Google Shape;172;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3" name="Google Shape;173;p11"/>
          <p:cNvSpPr/>
          <p:nvPr/>
        </p:nvSpPr>
        <p:spPr>
          <a:xfrm>
            <a:off x="-1" y="0"/>
            <a:ext cx="6096002" cy="6858000"/>
          </a:xfrm>
          <a:custGeom>
            <a:rect b="b" l="l" r="r" t="t"/>
            <a:pathLst>
              <a:path extrusionOk="0" h="6858000" w="6096002">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4" name="Google Shape;174;p11"/>
          <p:cNvSpPr/>
          <p:nvPr/>
        </p:nvSpPr>
        <p:spPr>
          <a:xfrm>
            <a:off x="0" y="0"/>
            <a:ext cx="6085370" cy="6858000"/>
          </a:xfrm>
          <a:custGeom>
            <a:rect b="b" l="l" r="r" t="t"/>
            <a:pathLst>
              <a:path extrusionOk="0" h="6858000" w="608537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5" name="Google Shape;175;p11"/>
          <p:cNvSpPr txBox="1"/>
          <p:nvPr>
            <p:ph type="title"/>
          </p:nvPr>
        </p:nvSpPr>
        <p:spPr>
          <a:xfrm>
            <a:off x="438913" y="859536"/>
            <a:ext cx="4832802" cy="12435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400"/>
              <a:buFont typeface="Calibri"/>
              <a:buNone/>
            </a:pPr>
            <a:r>
              <a:rPr lang="es-BO" sz="3400"/>
              <a:t>NEMA 23 – TIPOS DE CONEXIÓN Y TERMINALES</a:t>
            </a:r>
            <a:endParaRPr/>
          </a:p>
        </p:txBody>
      </p:sp>
      <p:sp>
        <p:nvSpPr>
          <p:cNvPr id="176" name="Google Shape;176;p11"/>
          <p:cNvSpPr/>
          <p:nvPr/>
        </p:nvSpPr>
        <p:spPr>
          <a:xfrm>
            <a:off x="0" y="1152144"/>
            <a:ext cx="128016" cy="65390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77" name="Google Shape;177;p11"/>
          <p:cNvSpPr/>
          <p:nvPr/>
        </p:nvSpPr>
        <p:spPr>
          <a:xfrm>
            <a:off x="438912" y="2185062"/>
            <a:ext cx="4983480" cy="18288"/>
          </a:xfrm>
          <a:prstGeom prst="rect">
            <a:avLst/>
          </a:prstGeom>
          <a:solidFill>
            <a:srgbClr val="D5D5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78" name="Google Shape;178;p11"/>
          <p:cNvSpPr txBox="1"/>
          <p:nvPr>
            <p:ph idx="1" type="body"/>
          </p:nvPr>
        </p:nvSpPr>
        <p:spPr>
          <a:xfrm>
            <a:off x="438912" y="2512611"/>
            <a:ext cx="4832803" cy="36643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500"/>
              <a:buChar char="•"/>
            </a:pPr>
            <a:r>
              <a:rPr lang="es-BO" sz="1500"/>
              <a:t>Conexión Serie</a:t>
            </a:r>
            <a:endParaRPr/>
          </a:p>
          <a:p>
            <a:pPr indent="-228600" lvl="1" marL="685800" rtl="0" algn="l">
              <a:lnSpc>
                <a:spcPct val="90000"/>
              </a:lnSpc>
              <a:spcBef>
                <a:spcPts val="500"/>
              </a:spcBef>
              <a:spcAft>
                <a:spcPts val="0"/>
              </a:spcAft>
              <a:buClr>
                <a:schemeClr val="dk1"/>
              </a:buClr>
              <a:buSzPts val="1500"/>
              <a:buChar char="•"/>
            </a:pPr>
            <a:r>
              <a:rPr lang="es-BO" sz="1500"/>
              <a:t>Los motores producen más torque en velocidades bajas, pero no pueden funcionar tan rápidamente como en la configuración de conexión central. En la operación en serie, el motor se debe hacer funcionar con corriente menor que la nominal en un 30% para evitar calentamiento. NC significa no conectados.</a:t>
            </a:r>
            <a:endParaRPr/>
          </a:p>
          <a:p>
            <a:pPr indent="-228600" lvl="0" marL="228600" rtl="0" algn="l">
              <a:lnSpc>
                <a:spcPct val="90000"/>
              </a:lnSpc>
              <a:spcBef>
                <a:spcPts val="1000"/>
              </a:spcBef>
              <a:spcAft>
                <a:spcPts val="0"/>
              </a:spcAft>
              <a:buClr>
                <a:schemeClr val="dk1"/>
              </a:buClr>
              <a:buSzPts val="1500"/>
              <a:buChar char="•"/>
            </a:pPr>
            <a:r>
              <a:rPr lang="es-BO" sz="1500"/>
              <a:t>Conexión Central</a:t>
            </a:r>
            <a:endParaRPr/>
          </a:p>
          <a:p>
            <a:pPr indent="-228600" lvl="1" marL="685800" rtl="0" algn="l">
              <a:lnSpc>
                <a:spcPct val="90000"/>
              </a:lnSpc>
              <a:spcBef>
                <a:spcPts val="500"/>
              </a:spcBef>
              <a:spcAft>
                <a:spcPts val="0"/>
              </a:spcAft>
              <a:buClr>
                <a:schemeClr val="dk1"/>
              </a:buClr>
              <a:buSzPts val="1500"/>
              <a:buChar char="•"/>
            </a:pPr>
            <a:r>
              <a:rPr lang="es-BO" sz="1500"/>
              <a:t>Los motores producen mayor velocidad, pero en contraparte se reduce el torque de las mismas. En este tipo de conexión el motor puede llegar a funcionar con una corriente en 30% más que la nominal. </a:t>
            </a:r>
            <a:endParaRPr/>
          </a:p>
        </p:txBody>
      </p:sp>
      <p:pic>
        <p:nvPicPr>
          <p:cNvPr id="179" name="Google Shape;179;p11"/>
          <p:cNvPicPr preferRelativeResize="0"/>
          <p:nvPr/>
        </p:nvPicPr>
        <p:blipFill rotWithShape="1">
          <a:blip r:embed="rId3">
            <a:alphaModFix/>
          </a:blip>
          <a:srcRect b="0" l="0" r="0" t="0"/>
          <a:stretch/>
        </p:blipFill>
        <p:spPr>
          <a:xfrm>
            <a:off x="7551479" y="517600"/>
            <a:ext cx="3267497" cy="2743200"/>
          </a:xfrm>
          <a:prstGeom prst="rect">
            <a:avLst/>
          </a:prstGeom>
          <a:noFill/>
          <a:ln>
            <a:noFill/>
          </a:ln>
        </p:spPr>
      </p:pic>
      <p:pic>
        <p:nvPicPr>
          <p:cNvPr id="180" name="Google Shape;180;p11"/>
          <p:cNvPicPr preferRelativeResize="0"/>
          <p:nvPr/>
        </p:nvPicPr>
        <p:blipFill rotWithShape="1">
          <a:blip r:embed="rId4">
            <a:alphaModFix/>
          </a:blip>
          <a:srcRect b="0" l="0" r="0" t="0"/>
          <a:stretch/>
        </p:blipFill>
        <p:spPr>
          <a:xfrm>
            <a:off x="7477725" y="3429000"/>
            <a:ext cx="3415004" cy="274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IDENTIFICACIÓN DE TERMINALES</a:t>
            </a:r>
            <a:endParaRPr/>
          </a:p>
        </p:txBody>
      </p:sp>
      <p:sp>
        <p:nvSpPr>
          <p:cNvPr id="186" name="Google Shape;186;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s-BO"/>
              <a:t>Configura el multímetro en función de la continuidad.</a:t>
            </a:r>
            <a:endParaRPr/>
          </a:p>
          <a:p>
            <a:pPr indent="-228600" lvl="0" marL="228600" rtl="0" algn="l">
              <a:lnSpc>
                <a:spcPct val="90000"/>
              </a:lnSpc>
              <a:spcBef>
                <a:spcPts val="1000"/>
              </a:spcBef>
              <a:spcAft>
                <a:spcPts val="0"/>
              </a:spcAft>
              <a:buClr>
                <a:schemeClr val="dk1"/>
              </a:buClr>
              <a:buSzPct val="100000"/>
              <a:buChar char="•"/>
            </a:pPr>
            <a:r>
              <a:rPr lang="es-BO"/>
              <a:t>Identifica los cables de una de las fases del motor.</a:t>
            </a:r>
            <a:endParaRPr/>
          </a:p>
          <a:p>
            <a:pPr indent="-228600" lvl="0" marL="228600" rtl="0" algn="l">
              <a:lnSpc>
                <a:spcPct val="90000"/>
              </a:lnSpc>
              <a:spcBef>
                <a:spcPts val="1000"/>
              </a:spcBef>
              <a:spcAft>
                <a:spcPts val="0"/>
              </a:spcAft>
              <a:buClr>
                <a:schemeClr val="dk1"/>
              </a:buClr>
              <a:buSzPct val="100000"/>
              <a:buChar char="•"/>
            </a:pPr>
            <a:r>
              <a:rPr lang="es-BO"/>
              <a:t>Colocar las puntas del multímetro en dos de los cables, por ejemplo, A+ y A-. Si el</a:t>
            </a:r>
            <a:endParaRPr/>
          </a:p>
          <a:p>
            <a:pPr indent="-228600" lvl="0" marL="228600" rtl="0" algn="l">
              <a:lnSpc>
                <a:spcPct val="90000"/>
              </a:lnSpc>
              <a:spcBef>
                <a:spcPts val="1000"/>
              </a:spcBef>
              <a:spcAft>
                <a:spcPts val="0"/>
              </a:spcAft>
              <a:buClr>
                <a:schemeClr val="dk1"/>
              </a:buClr>
              <a:buSzPct val="100000"/>
              <a:buChar char="•"/>
            </a:pPr>
            <a:r>
              <a:rPr lang="es-BO"/>
              <a:t>El multímetro emite un sonido o muestra una lectura de continuidad, significa que estos dos cables están conectados entre sí.</a:t>
            </a:r>
            <a:endParaRPr/>
          </a:p>
          <a:p>
            <a:pPr indent="-228600" lvl="0" marL="228600" rtl="0" algn="l">
              <a:lnSpc>
                <a:spcPct val="90000"/>
              </a:lnSpc>
              <a:spcBef>
                <a:spcPts val="1000"/>
              </a:spcBef>
              <a:spcAft>
                <a:spcPts val="0"/>
              </a:spcAft>
              <a:buClr>
                <a:schemeClr val="dk1"/>
              </a:buClr>
              <a:buSzPct val="100000"/>
              <a:buChar char="•"/>
            </a:pPr>
            <a:r>
              <a:rPr lang="es-BO"/>
              <a:t>Repite el paso anterior con los otros dos cables de la misma fase, por ejemplo, B+ y B-. También deberían mostrar una continuidad.</a:t>
            </a:r>
            <a:endParaRPr/>
          </a:p>
          <a:p>
            <a:pPr indent="-228600" lvl="0" marL="228600" rtl="0" algn="l">
              <a:lnSpc>
                <a:spcPct val="90000"/>
              </a:lnSpc>
              <a:spcBef>
                <a:spcPts val="1000"/>
              </a:spcBef>
              <a:spcAft>
                <a:spcPts val="0"/>
              </a:spcAft>
              <a:buClr>
                <a:schemeClr val="dk1"/>
              </a:buClr>
              <a:buSzPct val="100000"/>
              <a:buChar char="•"/>
            </a:pPr>
            <a:r>
              <a:rPr lang="es-BO"/>
              <a:t>Etiquetamos los cables que se identificaron correctamente como Fase 1.</a:t>
            </a:r>
            <a:endParaRPr/>
          </a:p>
          <a:p>
            <a:pPr indent="-228600" lvl="0" marL="228600" rtl="0" algn="l">
              <a:lnSpc>
                <a:spcPct val="90000"/>
              </a:lnSpc>
              <a:spcBef>
                <a:spcPts val="1000"/>
              </a:spcBef>
              <a:spcAft>
                <a:spcPts val="0"/>
              </a:spcAft>
              <a:buClr>
                <a:schemeClr val="dk1"/>
              </a:buClr>
              <a:buSzPct val="100000"/>
              <a:buChar char="•"/>
            </a:pPr>
            <a:r>
              <a:rPr lang="es-BO"/>
              <a:t>Repetir los pasos 2 a 5 para identificar los cables de la Fase 2, y etiquetarlos correctamente.</a:t>
            </a:r>
            <a:endParaRPr/>
          </a:p>
          <a:p>
            <a:pPr indent="0" lvl="0" marL="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0" name="Shape 190"/>
        <p:cNvGrpSpPr/>
        <p:nvPr/>
      </p:nvGrpSpPr>
      <p:grpSpPr>
        <a:xfrm>
          <a:off x="0" y="0"/>
          <a:ext cx="0" cy="0"/>
          <a:chOff x="0" y="0"/>
          <a:chExt cx="0" cy="0"/>
        </a:xfrm>
      </p:grpSpPr>
      <p:sp>
        <p:nvSpPr>
          <p:cNvPr id="191" name="Google Shape;191;p1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2" name="Google Shape;192;p13"/>
          <p:cNvSpPr txBox="1"/>
          <p:nvPr>
            <p:ph type="title"/>
          </p:nvPr>
        </p:nvSpPr>
        <p:spPr>
          <a:xfrm>
            <a:off x="630936" y="457200"/>
            <a:ext cx="4343400" cy="1929384"/>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s-BO" sz="4800"/>
              <a:t>TERMINALES MOTORES PASO A PASO</a:t>
            </a:r>
            <a:endParaRPr/>
          </a:p>
        </p:txBody>
      </p:sp>
      <p:sp>
        <p:nvSpPr>
          <p:cNvPr id="193" name="Google Shape;193;p13"/>
          <p:cNvSpPr/>
          <p:nvPr/>
        </p:nvSpPr>
        <p:spPr>
          <a:xfrm rot="5400000">
            <a:off x="4471415" y="1412748"/>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4" name="Google Shape;194;p13"/>
          <p:cNvSpPr txBox="1"/>
          <p:nvPr>
            <p:ph idx="1" type="body"/>
          </p:nvPr>
        </p:nvSpPr>
        <p:spPr>
          <a:xfrm>
            <a:off x="5541263" y="457200"/>
            <a:ext cx="6007608" cy="1929384"/>
          </a:xfrm>
          <a:prstGeom prst="rect">
            <a:avLst/>
          </a:prstGeom>
          <a:noFill/>
          <a:ln>
            <a:noFill/>
          </a:ln>
        </p:spPr>
        <p:txBody>
          <a:bodyPr anchorCtr="0" anchor="ctr" bIns="45700" lIns="91425" spcFirstLastPara="1" rIns="91425" wrap="square" tIns="45700">
            <a:normAutofit/>
          </a:bodyPr>
          <a:lstStyle/>
          <a:p>
            <a:pPr indent="-88900" lvl="0" marL="228600" rtl="0" algn="l">
              <a:lnSpc>
                <a:spcPct val="90000"/>
              </a:lnSpc>
              <a:spcBef>
                <a:spcPts val="0"/>
              </a:spcBef>
              <a:spcAft>
                <a:spcPts val="0"/>
              </a:spcAft>
              <a:buClr>
                <a:schemeClr val="dk1"/>
              </a:buClr>
              <a:buSzPts val="2200"/>
              <a:buNone/>
            </a:pPr>
            <a:r>
              <a:t/>
            </a:r>
            <a:endParaRPr sz="2200"/>
          </a:p>
        </p:txBody>
      </p:sp>
      <p:pic>
        <p:nvPicPr>
          <p:cNvPr id="195" name="Google Shape;195;p13"/>
          <p:cNvPicPr preferRelativeResize="0"/>
          <p:nvPr/>
        </p:nvPicPr>
        <p:blipFill rotWithShape="1">
          <a:blip r:embed="rId3">
            <a:alphaModFix/>
          </a:blip>
          <a:srcRect b="0" l="0" r="0" t="0"/>
          <a:stretch/>
        </p:blipFill>
        <p:spPr>
          <a:xfrm>
            <a:off x="466344" y="3322145"/>
            <a:ext cx="5468112" cy="2173573"/>
          </a:xfrm>
          <a:prstGeom prst="rect">
            <a:avLst/>
          </a:prstGeom>
          <a:noFill/>
          <a:ln>
            <a:noFill/>
          </a:ln>
        </p:spPr>
      </p:pic>
      <p:pic>
        <p:nvPicPr>
          <p:cNvPr id="196" name="Google Shape;196;p13"/>
          <p:cNvPicPr preferRelativeResize="0"/>
          <p:nvPr/>
        </p:nvPicPr>
        <p:blipFill rotWithShape="1">
          <a:blip r:embed="rId4">
            <a:alphaModFix/>
          </a:blip>
          <a:srcRect b="0" l="0" r="0" t="0"/>
          <a:stretch/>
        </p:blipFill>
        <p:spPr>
          <a:xfrm>
            <a:off x="6254496" y="3376826"/>
            <a:ext cx="5468112" cy="20642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descr="Imagen que contiene electrónica, circuito&#10;&#10;Descripción generada automáticamente" id="201" name="Google Shape;201;p14"/>
          <p:cNvPicPr preferRelativeResize="0"/>
          <p:nvPr/>
        </p:nvPicPr>
        <p:blipFill rotWithShape="1">
          <a:blip r:embed="rId3">
            <a:alphaModFix/>
          </a:blip>
          <a:srcRect b="0" l="1647" r="483" t="0"/>
          <a:stretch/>
        </p:blipFill>
        <p:spPr>
          <a:xfrm>
            <a:off x="3242695" y="10"/>
            <a:ext cx="8949307" cy="6857990"/>
          </a:xfrm>
          <a:custGeom>
            <a:rect b="b" l="l" r="r" t="t"/>
            <a:pathLst>
              <a:path extrusionOk="0" h="6858000" w="8949307">
                <a:moveTo>
                  <a:pt x="0" y="0"/>
                </a:moveTo>
                <a:lnTo>
                  <a:pt x="8949307" y="0"/>
                </a:lnTo>
                <a:lnTo>
                  <a:pt x="8949307" y="6858000"/>
                </a:lnTo>
                <a:lnTo>
                  <a:pt x="0" y="6858000"/>
                </a:lnTo>
                <a:lnTo>
                  <a:pt x="62983" y="6788730"/>
                </a:lnTo>
                <a:cubicBezTo>
                  <a:pt x="773509" y="5928900"/>
                  <a:pt x="1212979" y="4741056"/>
                  <a:pt x="1212979" y="3429000"/>
                </a:cubicBezTo>
                <a:cubicBezTo>
                  <a:pt x="1212979" y="2116944"/>
                  <a:pt x="773509" y="929100"/>
                  <a:pt x="62983" y="69271"/>
                </a:cubicBezTo>
                <a:close/>
              </a:path>
            </a:pathLst>
          </a:custGeom>
          <a:noFill/>
          <a:ln>
            <a:noFill/>
          </a:ln>
        </p:spPr>
      </p:pic>
      <p:sp>
        <p:nvSpPr>
          <p:cNvPr id="202" name="Google Shape;202;p14"/>
          <p:cNvSpPr txBox="1"/>
          <p:nvPr>
            <p:ph type="title"/>
          </p:nvPr>
        </p:nvSpPr>
        <p:spPr>
          <a:xfrm>
            <a:off x="371094" y="1161288"/>
            <a:ext cx="3438144" cy="112572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s-BO" sz="2800"/>
              <a:t>ENTRADAS Y SALIDAS PLACA</a:t>
            </a:r>
            <a:endParaRPr/>
          </a:p>
        </p:txBody>
      </p:sp>
      <p:sp>
        <p:nvSpPr>
          <p:cNvPr id="203" name="Google Shape;203;p14"/>
          <p:cNvSpPr txBox="1"/>
          <p:nvPr>
            <p:ph idx="1" type="body"/>
          </p:nvPr>
        </p:nvSpPr>
        <p:spPr>
          <a:xfrm>
            <a:off x="371094" y="2718054"/>
            <a:ext cx="3438906" cy="320725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s-BO" sz="1700"/>
              <a:t>Microcontrolador</a:t>
            </a:r>
            <a:endParaRPr/>
          </a:p>
          <a:p>
            <a:pPr indent="-228600" lvl="0" marL="228600" rtl="0" algn="l">
              <a:lnSpc>
                <a:spcPct val="90000"/>
              </a:lnSpc>
              <a:spcBef>
                <a:spcPts val="1000"/>
              </a:spcBef>
              <a:spcAft>
                <a:spcPts val="0"/>
              </a:spcAft>
              <a:buClr>
                <a:schemeClr val="dk1"/>
              </a:buClr>
              <a:buSzPts val="1700"/>
              <a:buChar char="•"/>
            </a:pPr>
            <a:r>
              <a:rPr lang="es-BO" sz="1700"/>
              <a:t>Dos series de borneras</a:t>
            </a:r>
            <a:endParaRPr/>
          </a:p>
          <a:p>
            <a:pPr indent="-228600" lvl="0" marL="228600" rtl="0" algn="l">
              <a:lnSpc>
                <a:spcPct val="90000"/>
              </a:lnSpc>
              <a:spcBef>
                <a:spcPts val="1000"/>
              </a:spcBef>
              <a:spcAft>
                <a:spcPts val="0"/>
              </a:spcAft>
              <a:buClr>
                <a:schemeClr val="dk1"/>
              </a:buClr>
              <a:buSzPts val="1700"/>
              <a:buChar char="•"/>
            </a:pPr>
            <a:r>
              <a:rPr lang="es-BO" sz="1700"/>
              <a:t>Relés</a:t>
            </a:r>
            <a:endParaRPr/>
          </a:p>
          <a:p>
            <a:pPr indent="-228600" lvl="0" marL="228600" rtl="0" algn="l">
              <a:lnSpc>
                <a:spcPct val="90000"/>
              </a:lnSpc>
              <a:spcBef>
                <a:spcPts val="1000"/>
              </a:spcBef>
              <a:spcAft>
                <a:spcPts val="0"/>
              </a:spcAft>
              <a:buClr>
                <a:schemeClr val="dk1"/>
              </a:buClr>
              <a:buSzPts val="1700"/>
              <a:buChar char="•"/>
            </a:pPr>
            <a:r>
              <a:rPr lang="es-BO" sz="1700"/>
              <a:t>Transistores</a:t>
            </a:r>
            <a:endParaRPr/>
          </a:p>
          <a:p>
            <a:pPr indent="-228600" lvl="0" marL="228600" rtl="0" algn="l">
              <a:lnSpc>
                <a:spcPct val="90000"/>
              </a:lnSpc>
              <a:spcBef>
                <a:spcPts val="1000"/>
              </a:spcBef>
              <a:spcAft>
                <a:spcPts val="0"/>
              </a:spcAft>
              <a:buClr>
                <a:schemeClr val="dk1"/>
              </a:buClr>
              <a:buSzPts val="1700"/>
              <a:buChar char="•"/>
            </a:pPr>
            <a:r>
              <a:rPr lang="es-BO" sz="1700"/>
              <a:t>Optoacopladores</a:t>
            </a:r>
            <a:endParaRPr/>
          </a:p>
          <a:p>
            <a:pPr indent="-228600" lvl="0" marL="228600" rtl="0" algn="l">
              <a:lnSpc>
                <a:spcPct val="90000"/>
              </a:lnSpc>
              <a:spcBef>
                <a:spcPts val="1000"/>
              </a:spcBef>
              <a:spcAft>
                <a:spcPts val="0"/>
              </a:spcAft>
              <a:buClr>
                <a:schemeClr val="dk1"/>
              </a:buClr>
              <a:buSzPts val="1700"/>
              <a:buChar char="•"/>
            </a:pPr>
            <a:r>
              <a:rPr lang="es-BO" sz="1700"/>
              <a:t>Dos conectores 2x15</a:t>
            </a:r>
            <a:endParaRPr/>
          </a:p>
          <a:p>
            <a:pPr indent="-228600" lvl="0" marL="228600" rtl="0" algn="l">
              <a:lnSpc>
                <a:spcPct val="90000"/>
              </a:lnSpc>
              <a:spcBef>
                <a:spcPts val="1000"/>
              </a:spcBef>
              <a:spcAft>
                <a:spcPts val="0"/>
              </a:spcAft>
              <a:buClr>
                <a:schemeClr val="dk1"/>
              </a:buClr>
              <a:buSzPts val="1700"/>
              <a:buChar char="•"/>
            </a:pPr>
            <a:r>
              <a:rPr lang="es-BO" sz="1700"/>
              <a:t>Amplificadores Darlington</a:t>
            </a:r>
            <a:endParaRPr/>
          </a:p>
          <a:p>
            <a:pPr indent="-228600" lvl="0" marL="228600" rtl="0" algn="l">
              <a:lnSpc>
                <a:spcPct val="90000"/>
              </a:lnSpc>
              <a:spcBef>
                <a:spcPts val="1000"/>
              </a:spcBef>
              <a:spcAft>
                <a:spcPts val="0"/>
              </a:spcAft>
              <a:buClr>
                <a:schemeClr val="dk1"/>
              </a:buClr>
              <a:buSzPts val="1700"/>
              <a:buChar char="•"/>
            </a:pPr>
            <a:r>
              <a:rPr lang="es-BO" sz="1700"/>
              <a:t>PL2303</a:t>
            </a:r>
            <a:endParaRPr/>
          </a:p>
          <a:p>
            <a:pPr indent="-228600" lvl="0" marL="228600" rtl="0" algn="l">
              <a:lnSpc>
                <a:spcPct val="90000"/>
              </a:lnSpc>
              <a:spcBef>
                <a:spcPts val="1000"/>
              </a:spcBef>
              <a:spcAft>
                <a:spcPts val="0"/>
              </a:spcAft>
              <a:buClr>
                <a:schemeClr val="dk1"/>
              </a:buClr>
              <a:buSzPts val="1700"/>
              <a:buChar char="•"/>
            </a:pPr>
            <a:r>
              <a:rPr lang="es-BO" sz="1700"/>
              <a:t>Conversor DC-DC</a:t>
            </a:r>
            <a:endParaRPr/>
          </a:p>
          <a:p>
            <a:pPr indent="-120650" lvl="0" marL="228600" rtl="0" algn="l">
              <a:lnSpc>
                <a:spcPct val="90000"/>
              </a:lnSpc>
              <a:spcBef>
                <a:spcPts val="1000"/>
              </a:spcBef>
              <a:spcAft>
                <a:spcPts val="0"/>
              </a:spcAft>
              <a:buClr>
                <a:schemeClr val="dk1"/>
              </a:buClr>
              <a:buSzPts val="1700"/>
              <a:buNone/>
            </a:pPr>
            <a:r>
              <a:t/>
            </a:r>
            <a:endParaRPr sz="17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title"/>
          </p:nvPr>
        </p:nvSpPr>
        <p:spPr>
          <a:xfrm>
            <a:off x="841248" y="256032"/>
            <a:ext cx="10506456" cy="1014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MICROCONTROLADOR PIC 16F1946</a:t>
            </a:r>
            <a:endParaRPr/>
          </a:p>
        </p:txBody>
      </p:sp>
      <p:graphicFrame>
        <p:nvGraphicFramePr>
          <p:cNvPr id="209" name="Google Shape;209;p15"/>
          <p:cNvGraphicFramePr/>
          <p:nvPr/>
        </p:nvGraphicFramePr>
        <p:xfrm>
          <a:off x="4286150" y="3122381"/>
          <a:ext cx="3000000" cy="3000000"/>
        </p:xfrm>
        <a:graphic>
          <a:graphicData uri="http://schemas.openxmlformats.org/drawingml/2006/table">
            <a:tbl>
              <a:tblPr>
                <a:noFill/>
                <a:tableStyleId>{F86F0D17-ACF1-473F-BB3F-7A43C2C81809}</a:tableStyleId>
              </a:tblPr>
              <a:tblGrid>
                <a:gridCol w="2971800"/>
                <a:gridCol w="2971800"/>
              </a:tblGrid>
              <a:tr h="266700">
                <a:tc gridSpan="2">
                  <a:txBody>
                    <a:bodyPr/>
                    <a:lstStyle/>
                    <a:p>
                      <a:pPr indent="0" lvl="0" marL="0" marR="0" rtl="0" algn="ctr">
                        <a:spcBef>
                          <a:spcPts val="0"/>
                        </a:spcBef>
                        <a:spcAft>
                          <a:spcPts val="0"/>
                        </a:spcAft>
                        <a:buNone/>
                      </a:pPr>
                      <a:r>
                        <a:rPr b="0" i="0" lang="es-BO" sz="1100" u="none" cap="none" strike="noStrike">
                          <a:solidFill>
                            <a:srgbClr val="000000"/>
                          </a:solidFill>
                          <a:latin typeface="Arial"/>
                          <a:ea typeface="Arial"/>
                          <a:cs typeface="Arial"/>
                          <a:sym typeface="Arial"/>
                        </a:rPr>
                        <a:t>Características PIC 16F1946</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Tipo de memoria</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Flash de 14KB</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Velocidad de CPU</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8 MIPS</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Entradas ADC</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17</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Resolución ADC</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10 bits</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Salidas CCP</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2</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Voltaje de operación</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1.8V - 5.5V</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Comunicaciones</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I2C, SPI, EUSART</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9700">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Número de pines I/O</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s-BO" sz="1100" u="none" cap="none" strike="noStrike">
                          <a:solidFill>
                            <a:srgbClr val="000000"/>
                          </a:solidFill>
                          <a:latin typeface="Arial"/>
                          <a:ea typeface="Arial"/>
                          <a:cs typeface="Arial"/>
                          <a:sym typeface="Arial"/>
                        </a:rPr>
                        <a:t>54</a:t>
                      </a:r>
                      <a:endParaRPr sz="1800" u="none" cap="none" strike="noStrike"/>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210" name="Google Shape;210;p15"/>
          <p:cNvPicPr preferRelativeResize="0"/>
          <p:nvPr/>
        </p:nvPicPr>
        <p:blipFill rotWithShape="1">
          <a:blip r:embed="rId3">
            <a:alphaModFix/>
          </a:blip>
          <a:srcRect b="0" l="0" r="0" t="0"/>
          <a:stretch/>
        </p:blipFill>
        <p:spPr>
          <a:xfrm>
            <a:off x="838200" y="2647295"/>
            <a:ext cx="3381375" cy="2915466"/>
          </a:xfrm>
          <a:prstGeom prst="rect">
            <a:avLst/>
          </a:prstGeom>
          <a:noFill/>
          <a:ln>
            <a:noFill/>
          </a:ln>
        </p:spPr>
      </p:pic>
      <p:sp>
        <p:nvSpPr>
          <p:cNvPr id="211" name="Google Shape;211;p15"/>
          <p:cNvSpPr/>
          <p:nvPr/>
        </p:nvSpPr>
        <p:spPr>
          <a:xfrm>
            <a:off x="2317974" y="2915540"/>
            <a:ext cx="184731" cy="1061253"/>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br>
              <a:rPr b="0" i="0" lang="es-BO" sz="1332" u="none" cap="none" strike="noStrike">
                <a:solidFill>
                  <a:schemeClr val="dk1"/>
                </a:solidFill>
                <a:latin typeface="Arial"/>
                <a:ea typeface="Arial"/>
                <a:cs typeface="Arial"/>
                <a:sym typeface="Arial"/>
              </a:rPr>
            </a:br>
            <a:br>
              <a:rPr b="0" i="0" lang="es-BO" sz="1332" u="none" cap="none" strike="noStrike">
                <a:solidFill>
                  <a:schemeClr val="dk1"/>
                </a:solidFill>
                <a:latin typeface="Arial"/>
                <a:ea typeface="Arial"/>
                <a:cs typeface="Arial"/>
                <a:sym typeface="Arial"/>
              </a:rPr>
            </a:br>
            <a:endParaRPr b="0" i="0" sz="1332" u="none" cap="none" strike="noStrike">
              <a:solidFill>
                <a:schemeClr val="dk1"/>
              </a:solidFill>
              <a:latin typeface="Arial"/>
              <a:ea typeface="Arial"/>
              <a:cs typeface="Arial"/>
              <a:sym typeface="Arial"/>
            </a:endParaRPr>
          </a:p>
          <a:p>
            <a:pPr indent="0" lvl="0" marL="0" marR="0" rtl="0" algn="l">
              <a:lnSpc>
                <a:spcPct val="100000"/>
              </a:lnSpc>
              <a:spcBef>
                <a:spcPts val="60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BO"/>
              <a:t>RELÉS</a:t>
            </a:r>
            <a:endParaRPr/>
          </a:p>
        </p:txBody>
      </p:sp>
      <p:sp>
        <p:nvSpPr>
          <p:cNvPr id="217" name="Google Shape;21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BO"/>
              <a:t>Serie 941</a:t>
            </a:r>
            <a:endParaRPr/>
          </a:p>
          <a:p>
            <a:pPr indent="-228600" lvl="0" marL="228600" rtl="0" algn="l">
              <a:lnSpc>
                <a:spcPct val="90000"/>
              </a:lnSpc>
              <a:spcBef>
                <a:spcPts val="1000"/>
              </a:spcBef>
              <a:spcAft>
                <a:spcPts val="0"/>
              </a:spcAft>
              <a:buClr>
                <a:schemeClr val="dk1"/>
              </a:buClr>
              <a:buSzPts val="2800"/>
              <a:buChar char="•"/>
            </a:pPr>
            <a:r>
              <a:rPr lang="es-BO"/>
              <a:t>941H-2C-24D</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18" name="Google Shape;218;p16"/>
          <p:cNvPicPr preferRelativeResize="0"/>
          <p:nvPr/>
        </p:nvPicPr>
        <p:blipFill rotWithShape="1">
          <a:blip r:embed="rId3">
            <a:alphaModFix/>
          </a:blip>
          <a:srcRect b="0" l="0" r="0" t="0"/>
          <a:stretch/>
        </p:blipFill>
        <p:spPr>
          <a:xfrm>
            <a:off x="3709408" y="681037"/>
            <a:ext cx="8297433" cy="2486372"/>
          </a:xfrm>
          <a:prstGeom prst="rect">
            <a:avLst/>
          </a:prstGeom>
          <a:noFill/>
          <a:ln>
            <a:noFill/>
          </a:ln>
        </p:spPr>
      </p:pic>
      <p:pic>
        <p:nvPicPr>
          <p:cNvPr id="219" name="Google Shape;219;p16"/>
          <p:cNvPicPr preferRelativeResize="0"/>
          <p:nvPr/>
        </p:nvPicPr>
        <p:blipFill rotWithShape="1">
          <a:blip r:embed="rId4">
            <a:alphaModFix/>
          </a:blip>
          <a:srcRect b="0" l="0" r="0" t="0"/>
          <a:stretch/>
        </p:blipFill>
        <p:spPr>
          <a:xfrm>
            <a:off x="1585345" y="4290750"/>
            <a:ext cx="8125959" cy="1886213"/>
          </a:xfrm>
          <a:prstGeom prst="rect">
            <a:avLst/>
          </a:prstGeom>
          <a:noFill/>
          <a:ln>
            <a:noFill/>
          </a:ln>
        </p:spPr>
      </p:pic>
      <p:pic>
        <p:nvPicPr>
          <p:cNvPr id="220" name="Google Shape;220;p16"/>
          <p:cNvPicPr preferRelativeResize="0"/>
          <p:nvPr/>
        </p:nvPicPr>
        <p:blipFill rotWithShape="1">
          <a:blip r:embed="rId5">
            <a:alphaModFix/>
          </a:blip>
          <a:srcRect b="0" l="0" r="0" t="0"/>
          <a:stretch/>
        </p:blipFill>
        <p:spPr>
          <a:xfrm>
            <a:off x="1566294" y="3514278"/>
            <a:ext cx="8125959" cy="76210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2023-06-06T10:07:53Z</dcterms:created>
  <dc:creator>Gustavo Chávez</dc:creator>
</cp:coreProperties>
</file>
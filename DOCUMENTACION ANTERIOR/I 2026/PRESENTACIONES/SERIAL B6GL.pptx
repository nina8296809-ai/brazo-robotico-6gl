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1" r:id="rId5"/>
    <p:sldId id="262" r:id="rId6"/>
    <p:sldId id="259" r:id="rId7"/>
    <p:sldId id="263" r:id="rId8"/>
    <p:sldId id="264" r:id="rId9"/>
    <p:sldId id="265" r:id="rId10"/>
    <p:sldId id="260" r:id="rId11"/>
    <p:sldId id="267" r:id="rId12"/>
    <p:sldId id="268" r:id="rId13"/>
  </p:sldIdLst>
  <p:sldSz cx="12192000" cy="6858000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C23750-8C34-430E-B663-974416791C74}" type="datetimeFigureOut">
              <a:rPr lang="es-BO" smtClean="0"/>
              <a:t>22/6/2023</a:t>
            </a:fld>
            <a:endParaRPr lang="es-B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BE9DF-1FA1-428F-80DF-C7A76C2A4D98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779613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CDDB64-4F8B-4AFF-9EB0-7853D5A0F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2ADD8D-FC1A-4144-9BA3-EEC7B288B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74D456-4515-4FF0-BC91-87554E997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3294F-7792-4292-9FA4-C94A1EC791D7}" type="datetime1">
              <a:rPr lang="es-BO" smtClean="0"/>
              <a:t>22/6/2023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037C73-A6C7-46B6-A713-04A9DFE2D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A3CB7C-21CC-433B-81F3-1F4C42148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301487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7F098-CBB9-4CAF-86FA-C2536900F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74DD05-B3B7-4299-87A2-67641ED3B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87E569-490B-4F61-B0E2-68455B1B4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B407F-AB2F-4F4B-B071-ED18449C61A8}" type="datetime1">
              <a:rPr lang="es-BO" smtClean="0"/>
              <a:t>22/6/2023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1345D3-F39E-4953-8828-50D882FCF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BEC7EF-0C60-40CB-9C32-C29F35D05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118805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2F7598-2C49-43F7-A580-007C36B9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760DB2-1525-4282-A2FA-E598F39C8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F44B2F-86AE-448B-907C-CC8FD10FB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6E472-00B9-470C-94E3-0DB298EB9494}" type="datetime1">
              <a:rPr lang="es-BO" smtClean="0"/>
              <a:t>22/6/2023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B74689-3A5F-4919-B3D5-88E05B802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FFBFDD-F0B9-4F48-8164-ECEF54274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679760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2F0244-A7AB-4A9F-8B34-D48293A2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9694ED-A326-47E7-A274-1EE20904B5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FFF7B10-F9E9-4B7C-BFDB-58C646A7F4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0B00EEB-2988-46D9-BF32-39D91C433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E6086-573A-4831-9978-9B5A22DD91A0}" type="datetime1">
              <a:rPr lang="es-BO" smtClean="0"/>
              <a:t>22/6/2023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74B800-2576-4877-BA26-4218DC289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726CD26-A807-4823-828F-87B318F41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45232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13D58-4D7B-489D-9ABF-EB4A00139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C4E256-BAB6-4A18-A2E0-347FC5212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5C1F5C8-6541-4A6E-8412-1AE199E22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C2B3B75-9AA6-479F-92A6-4CB4D8A42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A6BAF57-B4C7-4858-A37F-F6EC6AAD50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9634488-1976-4A4A-8224-D63E8896E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BFD29-25A6-4493-BD33-837C66DE777A}" type="datetime1">
              <a:rPr lang="es-BO" smtClean="0"/>
              <a:t>22/6/2023</a:t>
            </a:fld>
            <a:endParaRPr lang="es-B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C0E73CA-7414-43A8-8C00-28648D749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FBC1646-8732-4DE9-9218-EACF84723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06770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8B8CD2-D2C2-4131-8254-9B061944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4DBD2C5-E0B2-4E36-8A62-0293B9432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0B2B-3D96-4781-AB77-CD922CB8454B}" type="datetime1">
              <a:rPr lang="es-BO" smtClean="0"/>
              <a:t>22/6/2023</a:t>
            </a:fld>
            <a:endParaRPr lang="es-B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EEEBC6D-539E-433A-95C1-BEEE63055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90D0D0E-4278-40F2-A268-EFF6B9E62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080299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7F1CD8A-B0F6-47F5-A961-BA975B33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75BCE-1917-421A-8A9A-F896A9C1DDE3}" type="datetime1">
              <a:rPr lang="es-BO" smtClean="0"/>
              <a:t>22/6/2023</a:t>
            </a:fld>
            <a:endParaRPr lang="es-B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4B28CD3-27D1-4ACB-BDEB-56CB53933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DC4FE4-16A8-4B44-8D0B-3FFFA3B3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411534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8EFA8-9903-4D12-B287-B135FA557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51AC6A-ADFB-4403-B7E3-42DD695AE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186B98-0868-496F-BC83-080B512C4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3EE880-4223-443C-98D6-88D30F57B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66E10-8FEB-41A3-92E3-CE4BC85B7711}" type="datetime1">
              <a:rPr lang="es-BO" smtClean="0"/>
              <a:t>22/6/2023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A3C7A7-4C70-4363-B34C-603B12B02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FCDE86-ED88-41FD-A43F-945F6347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275944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14226-511C-46E4-AD8C-65CCA67DD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9F6FA3A-FFAA-4187-AEF7-56954A578C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B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997D5C-B636-4DAB-94D5-3B82E29EF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AC2769-B6FA-4F49-A4D4-65BAAB5D8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271EB-8F2A-41C0-AFC1-C73472250A5E}" type="datetime1">
              <a:rPr lang="es-BO" smtClean="0"/>
              <a:t>22/6/2023</a:t>
            </a:fld>
            <a:endParaRPr lang="es-B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E17073-7A1F-4F9C-96F7-D71C5F47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F3F0EF-268C-4733-9BB6-64508F907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061451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FE59C6-E3AE-4A8A-B5F5-687C74C0E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208E558-3E23-4E1F-A4E2-A6F766B5F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3FCBAA-A9A0-4F0F-AA83-606AA68A9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D199A-72E2-463B-814A-E470B32C5385}" type="datetime1">
              <a:rPr lang="es-BO" smtClean="0"/>
              <a:t>22/6/2023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9BFDB5-FCA2-4ED3-88A0-B1B47B83D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018A60-1E51-4CED-B504-94B0A031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44108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9797870-25BD-4235-B393-86458AB6E5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FE0A31-656F-4E33-BA1E-4E5799661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810E63-8BCC-4A74-B930-9E4B4F806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E0963-B1D3-4130-BC59-F9BDE1BA1FA4}" type="datetime1">
              <a:rPr lang="es-BO" smtClean="0"/>
              <a:t>22/6/2023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819D9A-231E-4B12-A335-A3FC33986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B3BD86-41EC-4381-8DFA-E4B8D7FB4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8548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6AA97BB-FB36-4940-BBCC-0545C8F2B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B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9A994B3-97F7-4A93-9693-5AFA45384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5DB11B-F62C-409A-9DD4-793FB2FDD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DAA5C-772D-40FD-869E-D122E314BA60}" type="datetime1">
              <a:rPr lang="es-BO" smtClean="0"/>
              <a:t>22/6/2023</a:t>
            </a:fld>
            <a:endParaRPr lang="es-B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9CD5A9-38E1-4A61-B3F8-F0366460F1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A5A3D8-494C-4C20-B5D7-6C0604A6C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8D31E-9C52-4B59-807E-FA1A0DADFE3E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93491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B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429C4-4F82-4337-8D42-8B63F702C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s-BO" b="1" dirty="0"/>
              <a:t>CONTROL POR COMPUTADOR</a:t>
            </a:r>
            <a:br>
              <a:rPr lang="es-BO" b="1" dirty="0"/>
            </a:br>
            <a:r>
              <a:rPr lang="es-BO" b="1" dirty="0"/>
              <a:t>BRAZO DE 6 GL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29323D-7715-4F96-8436-3F23A15B2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7208" y="4889534"/>
            <a:ext cx="9144000" cy="1655762"/>
          </a:xfrm>
        </p:spPr>
        <p:txBody>
          <a:bodyPr/>
          <a:lstStyle/>
          <a:p>
            <a:r>
              <a:rPr lang="es-BO" dirty="0"/>
              <a:t>MEDIANTE COMUNICACIÓN SERIAL ASÍNCRONA</a:t>
            </a:r>
          </a:p>
        </p:txBody>
      </p:sp>
      <p:pic>
        <p:nvPicPr>
          <p:cNvPr id="4" name="Picture 4" descr="Archivo:Umsa-logo.svg - Wikipedia, la enciclopedia libre">
            <a:extLst>
              <a:ext uri="{FF2B5EF4-FFF2-40B4-BE49-F238E27FC236}">
                <a16:creationId xmlns:a16="http://schemas.microsoft.com/office/drawing/2014/main" id="{8802FA19-EBC8-4000-93D1-592BA839B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18" y="412267"/>
            <a:ext cx="1286790" cy="2597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NSTITUTO DE ELECTRÓNICA APLICADA – Instituto de Electrónica Aplicada">
            <a:extLst>
              <a:ext uri="{FF2B5EF4-FFF2-40B4-BE49-F238E27FC236}">
                <a16:creationId xmlns:a16="http://schemas.microsoft.com/office/drawing/2014/main" id="{3295A919-5647-4FCF-9ADE-7B0A305CA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7349" y="412267"/>
            <a:ext cx="2064233" cy="2064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ngenio Triana Blog: Brazo Robot">
            <a:extLst>
              <a:ext uri="{FF2B5EF4-FFF2-40B4-BE49-F238E27FC236}">
                <a16:creationId xmlns:a16="http://schemas.microsoft.com/office/drawing/2014/main" id="{05A2FFE2-8347-43E8-8563-202BC8DBA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743" y="4330873"/>
            <a:ext cx="1797213" cy="211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FCB570-D7D7-4D90-AAF8-39D3F7BF3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BO" dirty="0"/>
              <a:t>ETN - 1034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AF2B7DAE-84D6-4394-8A56-FAABE424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1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077972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EBFC50-882A-4277-9A8B-389465E34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/>
              <a:t>INDICE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7333743B-3E48-4A8A-85F5-A0D017780B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19304" y="1866037"/>
            <a:ext cx="4752975" cy="4191000"/>
          </a:xfrm>
          <a:prstGeom prst="rect">
            <a:avLst/>
          </a:prstGeom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E1AC64-3D4C-4039-B091-E8693C6BB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BO" dirty="0"/>
              <a:t>ETN - 1034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4EB1EE-93C4-4165-8D94-F90153A8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2</a:t>
            </a:fld>
            <a:endParaRPr lang="es-B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F038886-700B-4C25-BE9C-BD1FC0778FD0}"/>
              </a:ext>
            </a:extLst>
          </p:cNvPr>
          <p:cNvSpPr txBox="1"/>
          <p:nvPr/>
        </p:nvSpPr>
        <p:spPr>
          <a:xfrm>
            <a:off x="1540565" y="2144331"/>
            <a:ext cx="4114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sz="2000" dirty="0"/>
              <a:t>COMUNICACIÓN SERIAL USART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sz="2000" dirty="0"/>
              <a:t>	CONCEPTOS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sz="2000" dirty="0"/>
              <a:t>	CONFIGURACIÓN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sz="2000" dirty="0"/>
              <a:t>CONFIGURACION DE CONEXIÓN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sz="2000" dirty="0"/>
              <a:t>IMPLEMENTACION EN </a:t>
            </a:r>
            <a:r>
              <a:rPr lang="es-BO" sz="2000" dirty="0" err="1"/>
              <a:t>uC</a:t>
            </a:r>
            <a:endParaRPr lang="es-BO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sz="2000" dirty="0"/>
              <a:t>	INCIALIZACIÓN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sz="2000" dirty="0"/>
              <a:t>	PROGRAMA PIC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sz="2000" dirty="0"/>
              <a:t>IMPLEMENTACION INTERFAZ DE USUARIO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sz="2000" dirty="0"/>
              <a:t>	INICILZACIÓN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BO" sz="2000" dirty="0"/>
              <a:t>	PROGRAMA PRINCIPAL</a:t>
            </a:r>
          </a:p>
        </p:txBody>
      </p:sp>
    </p:spTree>
    <p:extLst>
      <p:ext uri="{BB962C8B-B14F-4D97-AF65-F5344CB8AC3E}">
        <p14:creationId xmlns:p14="http://schemas.microsoft.com/office/powerpoint/2010/main" val="808598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0A7920-C21B-467E-B617-6A47F9AA5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44939"/>
            <a:ext cx="11353800" cy="1325563"/>
          </a:xfrm>
        </p:spPr>
        <p:txBody>
          <a:bodyPr/>
          <a:lstStyle/>
          <a:p>
            <a:r>
              <a:rPr lang="es-BO" dirty="0"/>
              <a:t>COMUNICACIÓN SERIAL ASINCRONA UART</a:t>
            </a: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D54A1F5F-022E-42B8-B633-602E64AF0D8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32460" y="1470502"/>
            <a:ext cx="10515600" cy="3561873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La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comunicación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asíncrona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</a:t>
            </a:r>
            <a:r>
              <a:rPr sz="2400" spc="-10" dirty="0">
                <a:latin typeface="Calibri"/>
                <a:cs typeface="Calibri"/>
              </a:rPr>
              <a:t> realiza</a:t>
            </a:r>
            <a:r>
              <a:rPr sz="2400" spc="-5" dirty="0">
                <a:latin typeface="Calibri"/>
                <a:cs typeface="Calibri"/>
              </a:rPr>
              <a:t> de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siguiente manera:</a:t>
            </a:r>
            <a:endParaRPr sz="2400" dirty="0">
              <a:latin typeface="Calibri"/>
              <a:cs typeface="Calibri"/>
            </a:endParaRPr>
          </a:p>
          <a:p>
            <a:pPr marL="698500" lvl="1" indent="-228600">
              <a:lnSpc>
                <a:spcPts val="2510"/>
              </a:lnSpc>
              <a:spcBef>
                <a:spcPts val="250"/>
              </a:spcBef>
              <a:buFont typeface="Courier New"/>
              <a:buChar char="o"/>
              <a:tabLst>
                <a:tab pos="698500" algn="l"/>
              </a:tabLst>
            </a:pPr>
            <a:r>
              <a:rPr sz="2200" spc="-5" dirty="0">
                <a:latin typeface="Calibri"/>
                <a:cs typeface="Calibri"/>
              </a:rPr>
              <a:t>En</a:t>
            </a:r>
            <a:r>
              <a:rPr sz="2200" spc="-15" dirty="0">
                <a:latin typeface="Calibri"/>
                <a:cs typeface="Calibri"/>
              </a:rPr>
              <a:t> estado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reposo,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línea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spc="-15" dirty="0">
                <a:latin typeface="Calibri"/>
                <a:cs typeface="Calibri"/>
              </a:rPr>
              <a:t>transferencia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spc="-15" dirty="0">
                <a:latin typeface="Calibri"/>
                <a:cs typeface="Calibri"/>
              </a:rPr>
              <a:t>datos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 err="1">
                <a:latin typeface="Calibri"/>
                <a:cs typeface="Calibri"/>
              </a:rPr>
              <a:t>tiene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que</a:t>
            </a:r>
            <a:r>
              <a:rPr lang="es-BO" sz="2200" dirty="0">
                <a:latin typeface="Calibri"/>
                <a:cs typeface="Calibri"/>
              </a:rPr>
              <a:t> </a:t>
            </a:r>
            <a:r>
              <a:rPr sz="2200" spc="-15" dirty="0" err="1">
                <a:latin typeface="Calibri"/>
                <a:cs typeface="Calibri"/>
              </a:rPr>
              <a:t>estar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 nivel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alto</a:t>
            </a:r>
            <a:endParaRPr sz="2200" dirty="0">
              <a:latin typeface="Calibri"/>
              <a:cs typeface="Calibri"/>
            </a:endParaRPr>
          </a:p>
          <a:p>
            <a:pPr marL="698500" marR="26034" lvl="1" indent="-228600">
              <a:lnSpc>
                <a:spcPts val="2380"/>
              </a:lnSpc>
              <a:spcBef>
                <a:spcPts val="535"/>
              </a:spcBef>
              <a:buFont typeface="Courier New"/>
              <a:buChar char="o"/>
              <a:tabLst>
                <a:tab pos="698500" algn="l"/>
              </a:tabLst>
            </a:pPr>
            <a:r>
              <a:rPr sz="2200" spc="-5" dirty="0">
                <a:latin typeface="Calibri"/>
                <a:cs typeface="Calibri"/>
              </a:rPr>
              <a:t>El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inicio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transmisión</a:t>
            </a:r>
            <a:r>
              <a:rPr sz="2200" spc="-5" dirty="0">
                <a:latin typeface="Calibri"/>
                <a:cs typeface="Calibri"/>
              </a:rPr>
              <a:t> de un </a:t>
            </a:r>
            <a:r>
              <a:rPr sz="2200" spc="-15" dirty="0">
                <a:latin typeface="Calibri"/>
                <a:cs typeface="Calibri"/>
              </a:rPr>
              <a:t>carácter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indica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poniendo,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durante </a:t>
            </a:r>
            <a:r>
              <a:rPr sz="2200" b="1" i="1" spc="-480" dirty="0">
                <a:latin typeface="Calibri"/>
                <a:cs typeface="Calibri"/>
              </a:rPr>
              <a:t> </a:t>
            </a:r>
            <a:r>
              <a:rPr sz="2200" b="1" i="1" spc="-5" dirty="0">
                <a:latin typeface="Calibri"/>
                <a:cs typeface="Calibri"/>
              </a:rPr>
              <a:t>el</a:t>
            </a:r>
            <a:r>
              <a:rPr sz="2200" b="1" i="1" spc="-20" dirty="0">
                <a:latin typeface="Calibri"/>
                <a:cs typeface="Calibri"/>
              </a:rPr>
              <a:t> </a:t>
            </a:r>
            <a:r>
              <a:rPr sz="2200" b="1" i="1" spc="-5" dirty="0">
                <a:latin typeface="Calibri"/>
                <a:cs typeface="Calibri"/>
              </a:rPr>
              <a:t>tiempo</a:t>
            </a:r>
            <a:r>
              <a:rPr sz="2200" b="1" i="1" dirty="0">
                <a:latin typeface="Calibri"/>
                <a:cs typeface="Calibri"/>
              </a:rPr>
              <a:t> </a:t>
            </a:r>
            <a:r>
              <a:rPr sz="2200" b="1" i="1" spc="-5" dirty="0">
                <a:latin typeface="Calibri"/>
                <a:cs typeface="Calibri"/>
              </a:rPr>
              <a:t>de</a:t>
            </a:r>
            <a:r>
              <a:rPr sz="2200" b="1" i="1" dirty="0">
                <a:latin typeface="Calibri"/>
                <a:cs typeface="Calibri"/>
              </a:rPr>
              <a:t> </a:t>
            </a:r>
            <a:r>
              <a:rPr sz="2200" b="1" i="1" spc="-5" dirty="0">
                <a:latin typeface="Calibri"/>
                <a:cs typeface="Calibri"/>
              </a:rPr>
              <a:t>1 bit</a:t>
            </a:r>
            <a:r>
              <a:rPr sz="2200" spc="-5" dirty="0">
                <a:latin typeface="Calibri"/>
                <a:cs typeface="Calibri"/>
              </a:rPr>
              <a:t>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línea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 0V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</a:t>
            </a:r>
            <a:r>
              <a:rPr sz="2200" b="1" spc="-10" dirty="0">
                <a:latin typeface="Calibri"/>
                <a:cs typeface="Calibri"/>
              </a:rPr>
              <a:t>bit</a:t>
            </a:r>
            <a:r>
              <a:rPr sz="2200" b="1" spc="-5" dirty="0">
                <a:latin typeface="Calibri"/>
                <a:cs typeface="Calibri"/>
              </a:rPr>
              <a:t> de</a:t>
            </a:r>
            <a:r>
              <a:rPr sz="2200" b="1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arranque</a:t>
            </a:r>
            <a:r>
              <a:rPr sz="2200" spc="-15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698500" marR="563880" lvl="1" indent="-228600">
              <a:lnSpc>
                <a:spcPts val="2380"/>
              </a:lnSpc>
              <a:spcBef>
                <a:spcPts val="495"/>
              </a:spcBef>
              <a:buFont typeface="Courier New"/>
              <a:buChar char="o"/>
              <a:tabLst>
                <a:tab pos="698500" algn="l"/>
              </a:tabLst>
            </a:pPr>
            <a:r>
              <a:rPr sz="2200" spc="-5" dirty="0">
                <a:latin typeface="Calibri"/>
                <a:cs typeface="Calibri"/>
              </a:rPr>
              <a:t>Se </a:t>
            </a:r>
            <a:r>
              <a:rPr sz="2200" spc="-10" dirty="0">
                <a:latin typeface="Calibri"/>
                <a:cs typeface="Calibri"/>
              </a:rPr>
              <a:t>transmiten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uno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por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cada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dirty="0">
                <a:latin typeface="Calibri"/>
                <a:cs typeface="Calibri"/>
              </a:rPr>
              <a:t>los </a:t>
            </a:r>
            <a:r>
              <a:rPr sz="2200" spc="-10" dirty="0">
                <a:latin typeface="Calibri"/>
                <a:cs typeface="Calibri"/>
              </a:rPr>
              <a:t>bits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 la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palabra.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mantiene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el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valor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cada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bit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durante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el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b="1" i="1" spc="-5" dirty="0">
                <a:latin typeface="Calibri"/>
                <a:cs typeface="Calibri"/>
              </a:rPr>
              <a:t>tiempo</a:t>
            </a:r>
            <a:r>
              <a:rPr sz="2200" b="1" i="1" dirty="0">
                <a:latin typeface="Calibri"/>
                <a:cs typeface="Calibri"/>
              </a:rPr>
              <a:t> </a:t>
            </a:r>
            <a:r>
              <a:rPr sz="2200" b="1" i="1" spc="-5" dirty="0">
                <a:latin typeface="Calibri"/>
                <a:cs typeface="Calibri"/>
              </a:rPr>
              <a:t>de</a:t>
            </a:r>
            <a:r>
              <a:rPr sz="2200" b="1" i="1" dirty="0">
                <a:latin typeface="Calibri"/>
                <a:cs typeface="Calibri"/>
              </a:rPr>
              <a:t> </a:t>
            </a:r>
            <a:r>
              <a:rPr sz="2200" b="1" i="1" spc="-5" dirty="0">
                <a:latin typeface="Calibri"/>
                <a:cs typeface="Calibri"/>
              </a:rPr>
              <a:t>1 bit</a:t>
            </a:r>
            <a:r>
              <a:rPr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65"/>
              </a:spcBef>
              <a:buFont typeface="Wingdings"/>
              <a:buChar char=""/>
              <a:tabLst>
                <a:tab pos="1156335" algn="l"/>
              </a:tabLst>
            </a:pPr>
            <a:r>
              <a:rPr sz="1800" spc="-5" dirty="0">
                <a:latin typeface="Calibri"/>
                <a:cs typeface="Calibri"/>
              </a:rPr>
              <a:t>Se </a:t>
            </a:r>
            <a:r>
              <a:rPr sz="1800" spc="-10" dirty="0">
                <a:latin typeface="Calibri"/>
                <a:cs typeface="Calibri"/>
              </a:rPr>
              <a:t>transmite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primero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menos </a:t>
            </a:r>
            <a:r>
              <a:rPr sz="1800" spc="-10" dirty="0">
                <a:latin typeface="Calibri"/>
                <a:cs typeface="Calibri"/>
              </a:rPr>
              <a:t>significativo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del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carácter</a:t>
            </a:r>
            <a:endParaRPr sz="1800" dirty="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Wingdings"/>
              <a:buChar char=""/>
              <a:tabLst>
                <a:tab pos="1156335" algn="l"/>
              </a:tabLst>
            </a:pPr>
            <a:r>
              <a:rPr sz="1800" spc="-5" dirty="0">
                <a:latin typeface="Calibri"/>
                <a:cs typeface="Calibri"/>
              </a:rPr>
              <a:t>Si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bit</a:t>
            </a:r>
            <a:r>
              <a:rPr sz="1800" dirty="0">
                <a:latin typeface="Calibri"/>
                <a:cs typeface="Calibri"/>
              </a:rPr>
              <a:t> 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‘1’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colocan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5V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 línea,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si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un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‘0’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pone</a:t>
            </a:r>
            <a:r>
              <a:rPr sz="1800" spc="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la línea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0V</a:t>
            </a:r>
          </a:p>
          <a:p>
            <a:pPr marL="698500" lvl="1" indent="-228600">
              <a:lnSpc>
                <a:spcPts val="2510"/>
              </a:lnSpc>
              <a:spcBef>
                <a:spcPts val="210"/>
              </a:spcBef>
              <a:buFont typeface="Courier New"/>
              <a:buChar char="o"/>
              <a:tabLst>
                <a:tab pos="698500" algn="l"/>
              </a:tabLst>
            </a:pPr>
            <a:r>
              <a:rPr sz="2200" spc="-5" dirty="0">
                <a:latin typeface="Calibri"/>
                <a:cs typeface="Calibri"/>
              </a:rPr>
              <a:t>Después del </a:t>
            </a:r>
            <a:r>
              <a:rPr sz="2200" spc="-10" dirty="0">
                <a:latin typeface="Calibri"/>
                <a:cs typeface="Calibri"/>
              </a:rPr>
              <a:t>último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bit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del </a:t>
            </a:r>
            <a:r>
              <a:rPr sz="2200" spc="-35" dirty="0">
                <a:latin typeface="Calibri"/>
                <a:cs typeface="Calibri"/>
              </a:rPr>
              <a:t>carácter,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pone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línea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65" dirty="0">
                <a:latin typeface="Calibri"/>
                <a:cs typeface="Calibri"/>
              </a:rPr>
              <a:t>5V,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para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indicar</a:t>
            </a:r>
            <a:endParaRPr sz="2200" dirty="0">
              <a:latin typeface="Calibri"/>
              <a:cs typeface="Calibri"/>
            </a:endParaRPr>
          </a:p>
          <a:p>
            <a:pPr marL="698500">
              <a:lnSpc>
                <a:spcPts val="2510"/>
              </a:lnSpc>
            </a:pPr>
            <a:r>
              <a:rPr sz="2200" spc="-5" dirty="0">
                <a:latin typeface="Calibri"/>
                <a:cs typeface="Calibri"/>
              </a:rPr>
              <a:t>el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final del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carácter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(</a:t>
            </a:r>
            <a:r>
              <a:rPr sz="2200" b="1" spc="-5" dirty="0">
                <a:latin typeface="Calibri"/>
                <a:cs typeface="Calibri"/>
              </a:rPr>
              <a:t>bit</a:t>
            </a:r>
            <a:r>
              <a:rPr sz="2200" b="1" spc="-10" dirty="0">
                <a:latin typeface="Calibri"/>
                <a:cs typeface="Calibri"/>
              </a:rPr>
              <a:t> </a:t>
            </a:r>
            <a:r>
              <a:rPr sz="2200" b="1" spc="-5" dirty="0">
                <a:latin typeface="Calibri"/>
                <a:cs typeface="Calibri"/>
              </a:rPr>
              <a:t>de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spc="-15" dirty="0">
                <a:latin typeface="Calibri"/>
                <a:cs typeface="Calibri"/>
              </a:rPr>
              <a:t>parada</a:t>
            </a:r>
            <a:r>
              <a:rPr sz="2200" spc="-15" dirty="0">
                <a:latin typeface="Calibri"/>
                <a:cs typeface="Calibri"/>
              </a:rPr>
              <a:t>)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durante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el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tiempo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 1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bit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EF6012F-5DCC-458E-99FA-E1356848C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145" y="5032375"/>
            <a:ext cx="4688230" cy="1591194"/>
          </a:xfrm>
          <a:prstGeom prst="rect">
            <a:avLst/>
          </a:prstGeom>
        </p:spPr>
      </p:pic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FA6A04-A567-4CAA-8640-DBD7F72A3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35A8B-70FE-46D4-B59A-A8B9C1E8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3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005209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0A7920-C21B-467E-B617-6A47F9AA5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44939"/>
            <a:ext cx="11353800" cy="1325563"/>
          </a:xfrm>
        </p:spPr>
        <p:txBody>
          <a:bodyPr/>
          <a:lstStyle/>
          <a:p>
            <a:r>
              <a:rPr lang="es-BO" dirty="0"/>
              <a:t>COMUNICACIÓN SERIAL ASINCRONA UART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29E7176-D942-4DB7-81B3-45141C16E88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90550" y="1470502"/>
            <a:ext cx="10515600" cy="47019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16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La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comunicación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serie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asíncrona</a:t>
            </a:r>
            <a:r>
              <a:rPr sz="2400" dirty="0">
                <a:latin typeface="Calibri"/>
                <a:cs typeface="Calibri"/>
              </a:rPr>
              <a:t> se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suele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especificar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expresiones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del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tipo: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160"/>
              </a:lnSpc>
            </a:pPr>
            <a:r>
              <a:rPr sz="2000" dirty="0">
                <a:latin typeface="Calibri"/>
                <a:cs typeface="Calibri"/>
              </a:rPr>
              <a:t>9600,8,N,1</a:t>
            </a:r>
          </a:p>
          <a:p>
            <a:pPr marL="698500" lvl="1" indent="-228600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9600bps</a:t>
            </a:r>
          </a:p>
          <a:p>
            <a:pPr marL="698500" lvl="1" indent="-228600">
              <a:lnSpc>
                <a:spcPct val="100000"/>
              </a:lnSpc>
              <a:spcBef>
                <a:spcPts val="10"/>
              </a:spcBef>
              <a:buFont typeface="Courier New"/>
              <a:buChar char="o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8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datos</a:t>
            </a:r>
            <a:endParaRPr sz="20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 </a:t>
            </a:r>
            <a:r>
              <a:rPr sz="2000" spc="-5" dirty="0">
                <a:latin typeface="Calibri"/>
                <a:cs typeface="Calibri"/>
              </a:rPr>
              <a:t>sin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paridad (E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 </a:t>
            </a:r>
            <a:r>
              <a:rPr sz="2000" spc="-5" dirty="0">
                <a:latin typeface="Calibri"/>
                <a:cs typeface="Calibri"/>
              </a:rPr>
              <a:t>paridad par </a:t>
            </a:r>
            <a:r>
              <a:rPr sz="2000" dirty="0">
                <a:latin typeface="Calibri"/>
                <a:cs typeface="Calibri"/>
              </a:rPr>
              <a:t>/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paridad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impar)</a:t>
            </a:r>
            <a:endParaRPr sz="20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1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 err="1">
                <a:latin typeface="Calibri"/>
                <a:cs typeface="Calibri"/>
              </a:rPr>
              <a:t>parada</a:t>
            </a:r>
            <a:endParaRPr lang="es-BO" sz="2000" spc="-1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5"/>
              </a:spcBef>
              <a:buFont typeface="Courier New"/>
              <a:buChar char="o"/>
              <a:tabLst>
                <a:tab pos="698500" algn="l"/>
              </a:tabLst>
            </a:pPr>
            <a:endParaRPr lang="es-BO" sz="2000" spc="-10" dirty="0">
              <a:latin typeface="Calibri"/>
              <a:cs typeface="Calibri"/>
            </a:endParaRPr>
          </a:p>
          <a:p>
            <a:pPr marL="241300" marR="257175">
              <a:lnSpc>
                <a:spcPts val="2600"/>
              </a:lnSpc>
              <a:spcBef>
                <a:spcPts val="420"/>
              </a:spcBef>
              <a:buFont typeface="Arial MT"/>
              <a:buChar char="•"/>
              <a:tabLst>
                <a:tab pos="241300" algn="l"/>
              </a:tabLst>
            </a:pPr>
            <a:r>
              <a:rPr lang="es-MX" sz="2400" spc="-5" dirty="0">
                <a:cs typeface="Calibri"/>
              </a:rPr>
              <a:t>La</a:t>
            </a:r>
            <a:r>
              <a:rPr lang="es-MX" sz="2400" spc="-15" dirty="0">
                <a:cs typeface="Calibri"/>
              </a:rPr>
              <a:t> </a:t>
            </a:r>
            <a:r>
              <a:rPr lang="es-MX" sz="2400" spc="-10" dirty="0">
                <a:cs typeface="Calibri"/>
              </a:rPr>
              <a:t>comunicación</a:t>
            </a:r>
            <a:r>
              <a:rPr lang="es-MX" sz="2400" spc="-20" dirty="0">
                <a:cs typeface="Calibri"/>
              </a:rPr>
              <a:t> </a:t>
            </a:r>
            <a:r>
              <a:rPr lang="es-MX" sz="2400" spc="-5" dirty="0">
                <a:cs typeface="Calibri"/>
              </a:rPr>
              <a:t>serie asíncrona</a:t>
            </a:r>
            <a:r>
              <a:rPr lang="es-MX" sz="2400" spc="-20" dirty="0">
                <a:cs typeface="Calibri"/>
              </a:rPr>
              <a:t> </a:t>
            </a:r>
            <a:r>
              <a:rPr lang="es-MX" sz="2400" spc="-5" dirty="0">
                <a:cs typeface="Calibri"/>
              </a:rPr>
              <a:t>suele</a:t>
            </a:r>
            <a:r>
              <a:rPr lang="es-MX" sz="2400" spc="5" dirty="0">
                <a:cs typeface="Calibri"/>
              </a:rPr>
              <a:t> </a:t>
            </a:r>
            <a:r>
              <a:rPr lang="es-MX" sz="2400" spc="-5" dirty="0">
                <a:cs typeface="Calibri"/>
              </a:rPr>
              <a:t>ser</a:t>
            </a:r>
            <a:r>
              <a:rPr lang="es-MX" sz="2400" spc="25" dirty="0">
                <a:cs typeface="Calibri"/>
              </a:rPr>
              <a:t> </a:t>
            </a:r>
            <a:r>
              <a:rPr lang="es-MX" sz="2400" b="1" i="1" spc="-10" dirty="0">
                <a:cs typeface="Calibri"/>
              </a:rPr>
              <a:t>full-</a:t>
            </a:r>
            <a:r>
              <a:rPr lang="es-MX" sz="2400" b="1" i="1" spc="-10" dirty="0" err="1">
                <a:cs typeface="Calibri"/>
              </a:rPr>
              <a:t>duplex</a:t>
            </a:r>
            <a:r>
              <a:rPr lang="es-MX" sz="2400" spc="-10" dirty="0">
                <a:cs typeface="Calibri"/>
              </a:rPr>
              <a:t>, </a:t>
            </a:r>
            <a:r>
              <a:rPr lang="es-MX" sz="2400" spc="-20" dirty="0">
                <a:cs typeface="Calibri"/>
              </a:rPr>
              <a:t>ya</a:t>
            </a:r>
            <a:r>
              <a:rPr lang="es-MX" sz="2400" spc="-15" dirty="0">
                <a:cs typeface="Calibri"/>
              </a:rPr>
              <a:t> </a:t>
            </a:r>
            <a:r>
              <a:rPr lang="es-MX" sz="2400" spc="-5" dirty="0">
                <a:cs typeface="Calibri"/>
              </a:rPr>
              <a:t>que</a:t>
            </a:r>
            <a:r>
              <a:rPr lang="es-MX" sz="2400" spc="5" dirty="0">
                <a:cs typeface="Calibri"/>
              </a:rPr>
              <a:t> </a:t>
            </a:r>
            <a:r>
              <a:rPr lang="es-MX" sz="2400" spc="-5" dirty="0">
                <a:cs typeface="Calibri"/>
              </a:rPr>
              <a:t>se </a:t>
            </a:r>
            <a:r>
              <a:rPr lang="es-MX" sz="2400" spc="-525" dirty="0">
                <a:cs typeface="Calibri"/>
              </a:rPr>
              <a:t> </a:t>
            </a:r>
            <a:r>
              <a:rPr lang="es-MX" sz="2400" spc="-10" dirty="0">
                <a:cs typeface="Calibri"/>
              </a:rPr>
              <a:t>contempla</a:t>
            </a:r>
            <a:r>
              <a:rPr lang="es-MX" sz="2400" spc="-35" dirty="0">
                <a:cs typeface="Calibri"/>
              </a:rPr>
              <a:t> </a:t>
            </a:r>
            <a:r>
              <a:rPr lang="es-MX" sz="2400" spc="-5" dirty="0">
                <a:cs typeface="Calibri"/>
              </a:rPr>
              <a:t>una </a:t>
            </a:r>
            <a:r>
              <a:rPr lang="es-MX" sz="2400" dirty="0">
                <a:cs typeface="Calibri"/>
              </a:rPr>
              <a:t>línea</a:t>
            </a:r>
            <a:r>
              <a:rPr lang="es-MX" sz="2400" spc="-10" dirty="0">
                <a:cs typeface="Calibri"/>
              </a:rPr>
              <a:t> </a:t>
            </a:r>
            <a:r>
              <a:rPr lang="es-MX" sz="2400" spc="-5" dirty="0">
                <a:cs typeface="Calibri"/>
              </a:rPr>
              <a:t>de</a:t>
            </a:r>
            <a:r>
              <a:rPr lang="es-MX" sz="2400" spc="15" dirty="0">
                <a:cs typeface="Calibri"/>
              </a:rPr>
              <a:t> </a:t>
            </a:r>
            <a:r>
              <a:rPr lang="es-MX" sz="2400" spc="-60" dirty="0" err="1">
                <a:cs typeface="Calibri"/>
              </a:rPr>
              <a:t>Tx</a:t>
            </a:r>
            <a:r>
              <a:rPr lang="es-MX" sz="2400" spc="5" dirty="0">
                <a:cs typeface="Calibri"/>
              </a:rPr>
              <a:t> </a:t>
            </a:r>
            <a:r>
              <a:rPr lang="es-MX" sz="2400" dirty="0">
                <a:cs typeface="Calibri"/>
              </a:rPr>
              <a:t>y</a:t>
            </a:r>
            <a:r>
              <a:rPr lang="es-MX" sz="2400" spc="-10" dirty="0">
                <a:cs typeface="Calibri"/>
              </a:rPr>
              <a:t> </a:t>
            </a:r>
            <a:r>
              <a:rPr lang="es-MX" sz="2400" spc="-20" dirty="0">
                <a:cs typeface="Calibri"/>
              </a:rPr>
              <a:t>otra</a:t>
            </a:r>
            <a:r>
              <a:rPr lang="es-MX" sz="2400" spc="-15" dirty="0">
                <a:cs typeface="Calibri"/>
              </a:rPr>
              <a:t> </a:t>
            </a:r>
            <a:r>
              <a:rPr lang="es-MX" sz="2400" spc="-5" dirty="0">
                <a:cs typeface="Calibri"/>
              </a:rPr>
              <a:t>de</a:t>
            </a:r>
            <a:r>
              <a:rPr lang="es-MX" sz="2400" spc="5" dirty="0">
                <a:cs typeface="Calibri"/>
              </a:rPr>
              <a:t> </a:t>
            </a:r>
            <a:r>
              <a:rPr lang="es-MX" sz="2400" dirty="0" err="1">
                <a:cs typeface="Calibri"/>
              </a:rPr>
              <a:t>Rx</a:t>
            </a:r>
            <a:endParaRPr lang="es-MX" sz="2400" dirty="0">
              <a:cs typeface="Calibri"/>
            </a:endParaRPr>
          </a:p>
          <a:p>
            <a:pPr marL="698500" marR="190500" lvl="1">
              <a:lnSpc>
                <a:spcPts val="2380"/>
              </a:lnSpc>
              <a:buFont typeface="Courier New"/>
              <a:buChar char="o"/>
              <a:tabLst>
                <a:tab pos="698500" algn="l"/>
              </a:tabLst>
            </a:pPr>
            <a:r>
              <a:rPr lang="es-MX" sz="2200" spc="-5" dirty="0">
                <a:cs typeface="Calibri"/>
              </a:rPr>
              <a:t>En</a:t>
            </a:r>
            <a:r>
              <a:rPr lang="es-MX" sz="2200" spc="-15" dirty="0">
                <a:cs typeface="Calibri"/>
              </a:rPr>
              <a:t> </a:t>
            </a:r>
            <a:r>
              <a:rPr lang="es-MX" sz="2200" spc="-20" dirty="0">
                <a:cs typeface="Calibri"/>
              </a:rPr>
              <a:t>concreto,</a:t>
            </a:r>
            <a:r>
              <a:rPr lang="es-MX" sz="2200" spc="10" dirty="0">
                <a:cs typeface="Calibri"/>
              </a:rPr>
              <a:t> </a:t>
            </a:r>
            <a:r>
              <a:rPr lang="es-MX" sz="2200" spc="-5" dirty="0">
                <a:cs typeface="Calibri"/>
              </a:rPr>
              <a:t>se</a:t>
            </a:r>
            <a:r>
              <a:rPr lang="es-MX" sz="2200" spc="10" dirty="0">
                <a:cs typeface="Calibri"/>
              </a:rPr>
              <a:t> </a:t>
            </a:r>
            <a:r>
              <a:rPr lang="es-MX" sz="2200" spc="-15" dirty="0">
                <a:cs typeface="Calibri"/>
              </a:rPr>
              <a:t>utiliza</a:t>
            </a:r>
            <a:r>
              <a:rPr lang="es-MX" sz="2200" spc="10" dirty="0">
                <a:cs typeface="Calibri"/>
              </a:rPr>
              <a:t> </a:t>
            </a:r>
            <a:r>
              <a:rPr lang="es-MX" sz="2200" spc="-15" dirty="0">
                <a:cs typeface="Calibri"/>
              </a:rPr>
              <a:t>frecuentemente</a:t>
            </a:r>
            <a:r>
              <a:rPr lang="es-MX" sz="2200" spc="55" dirty="0">
                <a:cs typeface="Calibri"/>
              </a:rPr>
              <a:t> </a:t>
            </a:r>
            <a:r>
              <a:rPr lang="es-MX" sz="2200" spc="-5" dirty="0">
                <a:cs typeface="Calibri"/>
              </a:rPr>
              <a:t>la</a:t>
            </a:r>
            <a:r>
              <a:rPr lang="es-MX" sz="2200" dirty="0">
                <a:cs typeface="Calibri"/>
              </a:rPr>
              <a:t> </a:t>
            </a:r>
            <a:r>
              <a:rPr lang="es-MX" sz="2200" spc="-15" dirty="0">
                <a:cs typeface="Calibri"/>
              </a:rPr>
              <a:t>conexión</a:t>
            </a:r>
            <a:r>
              <a:rPr lang="es-MX" sz="2200" spc="35" dirty="0">
                <a:cs typeface="Calibri"/>
              </a:rPr>
              <a:t> </a:t>
            </a:r>
            <a:r>
              <a:rPr lang="es-MX" sz="2200" b="1" spc="-10" dirty="0" err="1">
                <a:cs typeface="Calibri"/>
              </a:rPr>
              <a:t>null</a:t>
            </a:r>
            <a:r>
              <a:rPr lang="es-MX" sz="2200" b="1" spc="-10" dirty="0">
                <a:cs typeface="Calibri"/>
              </a:rPr>
              <a:t>-modem</a:t>
            </a:r>
            <a:r>
              <a:rPr lang="es-MX" sz="2200" b="1" spc="25" dirty="0">
                <a:cs typeface="Calibri"/>
              </a:rPr>
              <a:t> </a:t>
            </a:r>
            <a:r>
              <a:rPr lang="es-MX" sz="2200" spc="-10" dirty="0">
                <a:cs typeface="Calibri"/>
              </a:rPr>
              <a:t>(o </a:t>
            </a:r>
            <a:r>
              <a:rPr lang="es-MX" sz="2200" spc="-480" dirty="0">
                <a:cs typeface="Calibri"/>
              </a:rPr>
              <a:t> </a:t>
            </a:r>
            <a:r>
              <a:rPr lang="es-MX" sz="2200" spc="-5" dirty="0">
                <a:cs typeface="Calibri"/>
              </a:rPr>
              <a:t>módem</a:t>
            </a:r>
            <a:r>
              <a:rPr lang="es-MX" sz="2200" spc="10" dirty="0">
                <a:cs typeface="Calibri"/>
              </a:rPr>
              <a:t> </a:t>
            </a:r>
            <a:r>
              <a:rPr lang="es-MX" sz="2200" spc="-10" dirty="0">
                <a:cs typeface="Calibri"/>
              </a:rPr>
              <a:t>nulo):</a:t>
            </a:r>
            <a:endParaRPr lang="es-MX" sz="2200" dirty="0"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215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s-MX" sz="2100" spc="-50" dirty="0" err="1">
                <a:cs typeface="Calibri"/>
              </a:rPr>
              <a:t>Tx</a:t>
            </a:r>
            <a:r>
              <a:rPr lang="es-MX" sz="2100" spc="-5" dirty="0">
                <a:cs typeface="Calibri"/>
              </a:rPr>
              <a:t> del</a:t>
            </a:r>
            <a:r>
              <a:rPr lang="es-MX" sz="2100" spc="15" dirty="0">
                <a:cs typeface="Calibri"/>
              </a:rPr>
              <a:t> </a:t>
            </a:r>
            <a:r>
              <a:rPr lang="es-MX" sz="2100" spc="-10" dirty="0">
                <a:cs typeface="Calibri"/>
              </a:rPr>
              <a:t>dispositivo</a:t>
            </a:r>
            <a:r>
              <a:rPr lang="es-MX" sz="2100" spc="30" dirty="0">
                <a:cs typeface="Calibri"/>
              </a:rPr>
              <a:t> </a:t>
            </a:r>
            <a:r>
              <a:rPr lang="es-MX" sz="2100" dirty="0">
                <a:cs typeface="Calibri"/>
              </a:rPr>
              <a:t>1</a:t>
            </a:r>
            <a:r>
              <a:rPr lang="es-MX" sz="2100" spc="5" dirty="0">
                <a:cs typeface="Calibri"/>
              </a:rPr>
              <a:t> </a:t>
            </a:r>
            <a:r>
              <a:rPr lang="es-MX" sz="2100" spc="-10" dirty="0">
                <a:cs typeface="Calibri"/>
              </a:rPr>
              <a:t>conectado</a:t>
            </a:r>
            <a:r>
              <a:rPr lang="es-MX" sz="2100" spc="-5" dirty="0">
                <a:cs typeface="Calibri"/>
              </a:rPr>
              <a:t> </a:t>
            </a:r>
            <a:r>
              <a:rPr lang="es-MX" sz="2100" dirty="0">
                <a:cs typeface="Calibri"/>
              </a:rPr>
              <a:t>al</a:t>
            </a:r>
            <a:r>
              <a:rPr lang="es-MX" sz="2100" spc="20" dirty="0">
                <a:cs typeface="Calibri"/>
              </a:rPr>
              <a:t> </a:t>
            </a:r>
            <a:r>
              <a:rPr lang="es-MX" sz="2100" spc="-5" dirty="0" err="1">
                <a:cs typeface="Calibri"/>
              </a:rPr>
              <a:t>Rx</a:t>
            </a:r>
            <a:r>
              <a:rPr lang="es-MX" sz="2100" dirty="0">
                <a:cs typeface="Calibri"/>
              </a:rPr>
              <a:t> </a:t>
            </a:r>
            <a:r>
              <a:rPr lang="es-MX" sz="2100" spc="-5" dirty="0">
                <a:cs typeface="Calibri"/>
              </a:rPr>
              <a:t>del</a:t>
            </a:r>
            <a:r>
              <a:rPr lang="es-MX" sz="2100" spc="10" dirty="0">
                <a:cs typeface="Calibri"/>
              </a:rPr>
              <a:t> </a:t>
            </a:r>
            <a:r>
              <a:rPr lang="es-MX" sz="2100" spc="-10" dirty="0">
                <a:cs typeface="Calibri"/>
              </a:rPr>
              <a:t>dispositivo</a:t>
            </a:r>
            <a:r>
              <a:rPr lang="es-MX" sz="2100" spc="35" dirty="0">
                <a:cs typeface="Calibri"/>
              </a:rPr>
              <a:t> </a:t>
            </a:r>
            <a:r>
              <a:rPr lang="es-MX" sz="2100" dirty="0">
                <a:cs typeface="Calibri"/>
              </a:rPr>
              <a:t>2</a:t>
            </a:r>
          </a:p>
          <a:p>
            <a:pPr marL="1155700" lvl="2" indent="-229235">
              <a:lnSpc>
                <a:spcPct val="100000"/>
              </a:lnSpc>
              <a:spcBef>
                <a:spcPts val="254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s-MX" sz="2100" spc="-5" dirty="0" err="1">
                <a:cs typeface="Calibri"/>
              </a:rPr>
              <a:t>Rx</a:t>
            </a:r>
            <a:r>
              <a:rPr lang="es-MX" sz="2100" spc="-15" dirty="0">
                <a:cs typeface="Calibri"/>
              </a:rPr>
              <a:t> </a:t>
            </a:r>
            <a:r>
              <a:rPr lang="es-MX" sz="2100" spc="-5" dirty="0">
                <a:cs typeface="Calibri"/>
              </a:rPr>
              <a:t>del</a:t>
            </a:r>
            <a:r>
              <a:rPr lang="es-MX" sz="2100" spc="10" dirty="0">
                <a:cs typeface="Calibri"/>
              </a:rPr>
              <a:t> </a:t>
            </a:r>
            <a:r>
              <a:rPr lang="es-MX" sz="2100" spc="-10" dirty="0">
                <a:cs typeface="Calibri"/>
              </a:rPr>
              <a:t>dispositivo</a:t>
            </a:r>
            <a:r>
              <a:rPr lang="es-MX" sz="2100" spc="40" dirty="0">
                <a:cs typeface="Calibri"/>
              </a:rPr>
              <a:t> </a:t>
            </a:r>
            <a:r>
              <a:rPr lang="es-MX" sz="2100" dirty="0">
                <a:cs typeface="Calibri"/>
              </a:rPr>
              <a:t>1</a:t>
            </a:r>
            <a:r>
              <a:rPr lang="es-MX" sz="2100" spc="10" dirty="0">
                <a:cs typeface="Calibri"/>
              </a:rPr>
              <a:t> </a:t>
            </a:r>
            <a:r>
              <a:rPr lang="es-MX" sz="2100" spc="-10" dirty="0">
                <a:cs typeface="Calibri"/>
              </a:rPr>
              <a:t>conectado</a:t>
            </a:r>
            <a:r>
              <a:rPr lang="es-MX" sz="2100" spc="-15" dirty="0">
                <a:cs typeface="Calibri"/>
              </a:rPr>
              <a:t> </a:t>
            </a:r>
            <a:r>
              <a:rPr lang="es-MX" sz="2100" dirty="0">
                <a:cs typeface="Calibri"/>
              </a:rPr>
              <a:t>al</a:t>
            </a:r>
            <a:r>
              <a:rPr lang="es-MX" sz="2100" spc="20" dirty="0">
                <a:cs typeface="Calibri"/>
              </a:rPr>
              <a:t> </a:t>
            </a:r>
            <a:r>
              <a:rPr lang="es-MX" sz="2100" spc="-55" dirty="0" err="1">
                <a:cs typeface="Calibri"/>
              </a:rPr>
              <a:t>Tx</a:t>
            </a:r>
            <a:r>
              <a:rPr lang="es-MX" sz="2100" spc="15" dirty="0">
                <a:cs typeface="Calibri"/>
              </a:rPr>
              <a:t> </a:t>
            </a:r>
            <a:r>
              <a:rPr lang="es-MX" sz="2100" spc="-5" dirty="0">
                <a:cs typeface="Calibri"/>
              </a:rPr>
              <a:t>del</a:t>
            </a:r>
            <a:r>
              <a:rPr lang="es-MX" sz="2100" spc="10" dirty="0">
                <a:cs typeface="Calibri"/>
              </a:rPr>
              <a:t> </a:t>
            </a:r>
            <a:r>
              <a:rPr lang="es-MX" sz="2100" spc="-10" dirty="0">
                <a:cs typeface="Calibri"/>
              </a:rPr>
              <a:t>dispositivo</a:t>
            </a:r>
            <a:r>
              <a:rPr lang="es-MX" sz="2100" spc="40" dirty="0">
                <a:cs typeface="Calibri"/>
              </a:rPr>
              <a:t> </a:t>
            </a:r>
            <a:r>
              <a:rPr lang="es-MX" sz="2100" dirty="0">
                <a:cs typeface="Calibri"/>
              </a:rPr>
              <a:t>2</a:t>
            </a:r>
          </a:p>
          <a:p>
            <a:pPr marL="1155700" lvl="2" indent="-229235">
              <a:lnSpc>
                <a:spcPct val="100000"/>
              </a:lnSpc>
              <a:spcBef>
                <a:spcPts val="240"/>
              </a:spcBef>
              <a:buFont typeface="Wingdings"/>
              <a:buChar char=""/>
              <a:tabLst>
                <a:tab pos="1156335" algn="l"/>
              </a:tabLst>
            </a:pPr>
            <a:r>
              <a:rPr lang="es-MX" sz="2100" dirty="0">
                <a:cs typeface="Calibri"/>
              </a:rPr>
              <a:t>Una</a:t>
            </a:r>
            <a:r>
              <a:rPr lang="es-MX" sz="2100" spc="-25" dirty="0">
                <a:cs typeface="Calibri"/>
              </a:rPr>
              <a:t> </a:t>
            </a:r>
            <a:r>
              <a:rPr lang="es-MX" sz="2100" spc="-5" dirty="0">
                <a:cs typeface="Calibri"/>
              </a:rPr>
              <a:t>señal</a:t>
            </a:r>
            <a:r>
              <a:rPr lang="es-MX" sz="2100" spc="15" dirty="0">
                <a:cs typeface="Calibri"/>
              </a:rPr>
              <a:t> </a:t>
            </a:r>
            <a:r>
              <a:rPr lang="es-MX" sz="2100" spc="-5" dirty="0">
                <a:cs typeface="Calibri"/>
              </a:rPr>
              <a:t>de</a:t>
            </a:r>
            <a:r>
              <a:rPr lang="es-MX" sz="2100" spc="-10" dirty="0">
                <a:cs typeface="Calibri"/>
              </a:rPr>
              <a:t> </a:t>
            </a:r>
            <a:r>
              <a:rPr lang="es-MX" sz="2100" dirty="0">
                <a:cs typeface="Calibri"/>
              </a:rPr>
              <a:t>GND</a:t>
            </a:r>
            <a:r>
              <a:rPr lang="es-MX" sz="2100" spc="-15" dirty="0">
                <a:cs typeface="Calibri"/>
              </a:rPr>
              <a:t> </a:t>
            </a:r>
            <a:r>
              <a:rPr lang="es-MX" sz="2100" spc="-10" dirty="0">
                <a:cs typeface="Calibri"/>
              </a:rPr>
              <a:t>común</a:t>
            </a:r>
            <a:r>
              <a:rPr lang="es-MX" sz="2100" spc="-5" dirty="0">
                <a:cs typeface="Calibri"/>
              </a:rPr>
              <a:t> </a:t>
            </a:r>
            <a:r>
              <a:rPr lang="es-MX" sz="2100" dirty="0">
                <a:cs typeface="Calibri"/>
              </a:rPr>
              <a:t>a</a:t>
            </a:r>
            <a:r>
              <a:rPr lang="es-MX" sz="2100" spc="-10" dirty="0">
                <a:cs typeface="Calibri"/>
              </a:rPr>
              <a:t> </a:t>
            </a:r>
            <a:r>
              <a:rPr lang="es-MX" sz="2100" dirty="0">
                <a:cs typeface="Calibri"/>
              </a:rPr>
              <a:t>los </a:t>
            </a:r>
            <a:r>
              <a:rPr lang="es-MX" sz="2100" spc="-5" dirty="0">
                <a:cs typeface="Calibri"/>
              </a:rPr>
              <a:t>dos</a:t>
            </a:r>
            <a:r>
              <a:rPr lang="es-MX" sz="2100" spc="5" dirty="0">
                <a:cs typeface="Calibri"/>
              </a:rPr>
              <a:t> </a:t>
            </a:r>
            <a:r>
              <a:rPr lang="es-MX" sz="2100" spc="-10" dirty="0">
                <a:cs typeface="Calibri"/>
              </a:rPr>
              <a:t>dispositivos</a:t>
            </a:r>
            <a:endParaRPr lang="es-MX" sz="2100" dirty="0">
              <a:cs typeface="Calibri"/>
            </a:endParaRPr>
          </a:p>
          <a:p>
            <a:pPr marL="469900" lvl="1" indent="0">
              <a:lnSpc>
                <a:spcPct val="100000"/>
              </a:lnSpc>
              <a:spcBef>
                <a:spcPts val="25"/>
              </a:spcBef>
              <a:buNone/>
              <a:tabLst>
                <a:tab pos="698500" algn="l"/>
              </a:tabLst>
            </a:pPr>
            <a:endParaRPr lang="es-BO" sz="2000" spc="-10" dirty="0">
              <a:solidFill>
                <a:srgbClr val="000066"/>
              </a:solidFill>
              <a:latin typeface="Calibri"/>
              <a:cs typeface="Calibri"/>
            </a:endParaRPr>
          </a:p>
        </p:txBody>
      </p:sp>
      <p:pic>
        <p:nvPicPr>
          <p:cNvPr id="13" name="object 12">
            <a:extLst>
              <a:ext uri="{FF2B5EF4-FFF2-40B4-BE49-F238E27FC236}">
                <a16:creationId xmlns:a16="http://schemas.microsoft.com/office/drawing/2014/main" id="{49F083D4-F0BE-4742-A9C8-B4020BD7B949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34300" y="4846867"/>
            <a:ext cx="4286250" cy="1866194"/>
          </a:xfrm>
          <a:prstGeom prst="rect">
            <a:avLst/>
          </a:prstGeom>
        </p:spPr>
      </p:pic>
      <p:sp>
        <p:nvSpPr>
          <p:cNvPr id="14" name="Marcador de pie de página 13">
            <a:extLst>
              <a:ext uri="{FF2B5EF4-FFF2-40B4-BE49-F238E27FC236}">
                <a16:creationId xmlns:a16="http://schemas.microsoft.com/office/drawing/2014/main" id="{086BC6BC-8AAC-4D2C-8178-210E3D4D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BO" dirty="0"/>
              <a:t>ETN - 1034</a:t>
            </a:r>
          </a:p>
        </p:txBody>
      </p:sp>
      <p:sp>
        <p:nvSpPr>
          <p:cNvPr id="15" name="Marcador de número de diapositiva 14">
            <a:extLst>
              <a:ext uri="{FF2B5EF4-FFF2-40B4-BE49-F238E27FC236}">
                <a16:creationId xmlns:a16="http://schemas.microsoft.com/office/drawing/2014/main" id="{155FB175-1B3D-434F-91BD-AE3A6E048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4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25530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1EB478-55C8-4BA7-9C03-60EAB6963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/>
              <a:t>CONFIGURACIÓN DE CONEXION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E01F4D9-32F7-42BB-BB53-29C8F252E7C2}"/>
              </a:ext>
            </a:extLst>
          </p:cNvPr>
          <p:cNvSpPr/>
          <p:nvPr/>
        </p:nvSpPr>
        <p:spPr>
          <a:xfrm>
            <a:off x="4943475" y="3010694"/>
            <a:ext cx="2305050" cy="211455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BO" dirty="0"/>
              <a:t>INTERFAZ</a:t>
            </a:r>
          </a:p>
          <a:p>
            <a:pPr algn="ctr"/>
            <a:r>
              <a:rPr lang="es-BO" dirty="0"/>
              <a:t>PL2303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69F4C3D-F82B-4297-8BB6-D4F36A5BC547}"/>
              </a:ext>
            </a:extLst>
          </p:cNvPr>
          <p:cNvSpPr/>
          <p:nvPr/>
        </p:nvSpPr>
        <p:spPr>
          <a:xfrm>
            <a:off x="1290637" y="2944019"/>
            <a:ext cx="2471737" cy="21145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BO" dirty="0"/>
              <a:t>COMPUTADOR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73BFC01-6469-458E-B82E-00C1607D25CA}"/>
              </a:ext>
            </a:extLst>
          </p:cNvPr>
          <p:cNvSpPr/>
          <p:nvPr/>
        </p:nvSpPr>
        <p:spPr>
          <a:xfrm>
            <a:off x="8443913" y="2944019"/>
            <a:ext cx="2305050" cy="211455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BO" dirty="0"/>
              <a:t>BRAZO </a:t>
            </a:r>
          </a:p>
          <a:p>
            <a:pPr algn="ctr"/>
            <a:endParaRPr lang="es-BO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B8C230-29E1-4436-A478-2E48DF079EEB}"/>
              </a:ext>
            </a:extLst>
          </p:cNvPr>
          <p:cNvSpPr/>
          <p:nvPr/>
        </p:nvSpPr>
        <p:spPr>
          <a:xfrm>
            <a:off x="9067800" y="4286250"/>
            <a:ext cx="1314450" cy="6762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BO" dirty="0"/>
              <a:t>PIC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8884A7CF-D160-408B-ADC5-9C9DE0834D2C}"/>
              </a:ext>
            </a:extLst>
          </p:cNvPr>
          <p:cNvCxnSpPr/>
          <p:nvPr/>
        </p:nvCxnSpPr>
        <p:spPr>
          <a:xfrm>
            <a:off x="3748087" y="4001294"/>
            <a:ext cx="1195388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5428E35F-990B-43ED-8618-D10E16AA9553}"/>
              </a:ext>
            </a:extLst>
          </p:cNvPr>
          <p:cNvCxnSpPr/>
          <p:nvPr/>
        </p:nvCxnSpPr>
        <p:spPr>
          <a:xfrm>
            <a:off x="7248525" y="3429000"/>
            <a:ext cx="119538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3018A8C7-09FE-4DC3-AC95-DA208E7FD4E6}"/>
              </a:ext>
            </a:extLst>
          </p:cNvPr>
          <p:cNvCxnSpPr/>
          <p:nvPr/>
        </p:nvCxnSpPr>
        <p:spPr>
          <a:xfrm flipH="1">
            <a:off x="7248525" y="4001294"/>
            <a:ext cx="1195388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378F0D6E-2845-421C-AD17-057F1BAA2400}"/>
              </a:ext>
            </a:extLst>
          </p:cNvPr>
          <p:cNvCxnSpPr/>
          <p:nvPr/>
        </p:nvCxnSpPr>
        <p:spPr>
          <a:xfrm>
            <a:off x="7248525" y="4624387"/>
            <a:ext cx="119538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48C2C66-7DE4-4F22-B2B9-63FCE1F80048}"/>
              </a:ext>
            </a:extLst>
          </p:cNvPr>
          <p:cNvSpPr txBox="1"/>
          <p:nvPr/>
        </p:nvSpPr>
        <p:spPr>
          <a:xfrm>
            <a:off x="6637734" y="3135992"/>
            <a:ext cx="716756" cy="1676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s-BO" dirty="0"/>
              <a:t>RX</a:t>
            </a:r>
          </a:p>
          <a:p>
            <a:pPr>
              <a:lnSpc>
                <a:spcPct val="200000"/>
              </a:lnSpc>
            </a:pPr>
            <a:r>
              <a:rPr lang="es-BO" dirty="0"/>
              <a:t>TX</a:t>
            </a:r>
          </a:p>
          <a:p>
            <a:pPr>
              <a:lnSpc>
                <a:spcPct val="200000"/>
              </a:lnSpc>
            </a:pPr>
            <a:r>
              <a:rPr lang="es-BO" dirty="0"/>
              <a:t>GND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AFF2F95-8682-41BB-82CA-4725233FE848}"/>
              </a:ext>
            </a:extLst>
          </p:cNvPr>
          <p:cNvSpPr txBox="1"/>
          <p:nvPr/>
        </p:nvSpPr>
        <p:spPr>
          <a:xfrm>
            <a:off x="8464153" y="3084398"/>
            <a:ext cx="716756" cy="1676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s-BO" dirty="0"/>
              <a:t>TX</a:t>
            </a:r>
          </a:p>
          <a:p>
            <a:pPr>
              <a:lnSpc>
                <a:spcPct val="200000"/>
              </a:lnSpc>
            </a:pPr>
            <a:r>
              <a:rPr lang="es-BO" dirty="0"/>
              <a:t>RX</a:t>
            </a:r>
          </a:p>
          <a:p>
            <a:pPr>
              <a:lnSpc>
                <a:spcPct val="200000"/>
              </a:lnSpc>
            </a:pPr>
            <a:r>
              <a:rPr lang="es-BO" dirty="0"/>
              <a:t>GND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97E3691-66C5-43B1-ACB7-9F8331CC9406}"/>
              </a:ext>
            </a:extLst>
          </p:cNvPr>
          <p:cNvSpPr txBox="1"/>
          <p:nvPr/>
        </p:nvSpPr>
        <p:spPr>
          <a:xfrm>
            <a:off x="4024311" y="3429000"/>
            <a:ext cx="809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/>
              <a:t>USB</a:t>
            </a:r>
          </a:p>
        </p:txBody>
      </p:sp>
      <p:sp>
        <p:nvSpPr>
          <p:cNvPr id="21" name="Marcador de pie de página 20">
            <a:extLst>
              <a:ext uri="{FF2B5EF4-FFF2-40B4-BE49-F238E27FC236}">
                <a16:creationId xmlns:a16="http://schemas.microsoft.com/office/drawing/2014/main" id="{A047E2D5-5313-4007-A5A7-AD200D9F7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BO" dirty="0"/>
              <a:t>ETN - 1034</a:t>
            </a:r>
          </a:p>
          <a:p>
            <a:endParaRPr lang="es-BO" dirty="0"/>
          </a:p>
        </p:txBody>
      </p:sp>
      <p:sp>
        <p:nvSpPr>
          <p:cNvPr id="22" name="Marcador de número de diapositiva 21">
            <a:extLst>
              <a:ext uri="{FF2B5EF4-FFF2-40B4-BE49-F238E27FC236}">
                <a16:creationId xmlns:a16="http://schemas.microsoft.com/office/drawing/2014/main" id="{17CB6DCB-B50A-41DA-907F-2AAFFE0E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5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501989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F133F6-6526-4C06-BBC3-5343D5F26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158"/>
            <a:ext cx="10515600" cy="1325563"/>
          </a:xfrm>
        </p:spPr>
        <p:txBody>
          <a:bodyPr/>
          <a:lstStyle/>
          <a:p>
            <a:r>
              <a:rPr lang="es-BO" dirty="0"/>
              <a:t>IMPLEMENTACIÓN EN </a:t>
            </a:r>
            <a:r>
              <a:rPr lang="es-BO" dirty="0" err="1"/>
              <a:t>uC</a:t>
            </a:r>
            <a:r>
              <a:rPr lang="es-BO" dirty="0"/>
              <a:t> PIC16F1946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30E3A02-A1E4-43C0-A279-811D01D7B5BB}"/>
              </a:ext>
            </a:extLst>
          </p:cNvPr>
          <p:cNvSpPr/>
          <p:nvPr/>
        </p:nvSpPr>
        <p:spPr>
          <a:xfrm>
            <a:off x="5362575" y="1391446"/>
            <a:ext cx="1562100" cy="8001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/>
              <a:t>INICIO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B7F5856-2B3F-41A2-B78D-4827BAFF2781}"/>
              </a:ext>
            </a:extLst>
          </p:cNvPr>
          <p:cNvSpPr/>
          <p:nvPr/>
        </p:nvSpPr>
        <p:spPr>
          <a:xfrm>
            <a:off x="4791075" y="2667796"/>
            <a:ext cx="2705100" cy="952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/>
              <a:t>INICIALIZACION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2993A52-B22A-47F8-B235-6E16A77E2F9D}"/>
              </a:ext>
            </a:extLst>
          </p:cNvPr>
          <p:cNvSpPr/>
          <p:nvPr/>
        </p:nvSpPr>
        <p:spPr>
          <a:xfrm>
            <a:off x="7962900" y="2023270"/>
            <a:ext cx="3448050" cy="11009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BO" dirty="0"/>
              <a:t>Configuración de REG, variables</a:t>
            </a:r>
          </a:p>
          <a:p>
            <a:pPr algn="ctr"/>
            <a:r>
              <a:rPr lang="es-BO" dirty="0"/>
              <a:t>PWM, UART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C3118AB-1A5D-4B0F-8F9C-C27FB9AD0FC2}"/>
              </a:ext>
            </a:extLst>
          </p:cNvPr>
          <p:cNvSpPr/>
          <p:nvPr/>
        </p:nvSpPr>
        <p:spPr>
          <a:xfrm>
            <a:off x="5067300" y="5233980"/>
            <a:ext cx="2152650" cy="1104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/>
              <a:t>EJECUTAR MOVIMIENTO SEGÚN CODIFICAION</a:t>
            </a:r>
          </a:p>
        </p:txBody>
      </p:sp>
      <p:sp>
        <p:nvSpPr>
          <p:cNvPr id="11" name="Diagrama de flujo: decisión 10">
            <a:extLst>
              <a:ext uri="{FF2B5EF4-FFF2-40B4-BE49-F238E27FC236}">
                <a16:creationId xmlns:a16="http://schemas.microsoft.com/office/drawing/2014/main" id="{E600C48C-413E-40EA-9503-94ED4A2E7ADA}"/>
              </a:ext>
            </a:extLst>
          </p:cNvPr>
          <p:cNvSpPr/>
          <p:nvPr/>
        </p:nvSpPr>
        <p:spPr>
          <a:xfrm>
            <a:off x="5429250" y="3995730"/>
            <a:ext cx="1428750" cy="9525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/>
              <a:t>DATO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C6F8D316-BB8B-4B56-B7E4-1FFB55F5B7BB}"/>
              </a:ext>
            </a:extLst>
          </p:cNvPr>
          <p:cNvCxnSpPr>
            <a:stCxn id="4" idx="4"/>
            <a:endCxn id="7" idx="0"/>
          </p:cNvCxnSpPr>
          <p:nvPr/>
        </p:nvCxnSpPr>
        <p:spPr>
          <a:xfrm>
            <a:off x="6143625" y="2191546"/>
            <a:ext cx="0" cy="476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6626DC79-A0CE-47BD-BD3C-BECD4EB3CCFD}"/>
              </a:ext>
            </a:extLst>
          </p:cNvPr>
          <p:cNvCxnSpPr>
            <a:stCxn id="7" idx="2"/>
            <a:endCxn id="11" idx="0"/>
          </p:cNvCxnSpPr>
          <p:nvPr/>
        </p:nvCxnSpPr>
        <p:spPr>
          <a:xfrm>
            <a:off x="6143625" y="3620296"/>
            <a:ext cx="0" cy="3754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177B1E45-5009-4830-AB01-A8411C08E4D5}"/>
              </a:ext>
            </a:extLst>
          </p:cNvPr>
          <p:cNvCxnSpPr>
            <a:stCxn id="11" idx="2"/>
            <a:endCxn id="10" idx="0"/>
          </p:cNvCxnSpPr>
          <p:nvPr/>
        </p:nvCxnSpPr>
        <p:spPr>
          <a:xfrm>
            <a:off x="6143625" y="4948230"/>
            <a:ext cx="0" cy="2857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angular 36">
            <a:extLst>
              <a:ext uri="{FF2B5EF4-FFF2-40B4-BE49-F238E27FC236}">
                <a16:creationId xmlns:a16="http://schemas.microsoft.com/office/drawing/2014/main" id="{3C43013E-A24A-40BC-92DA-B2ADB723D7B4}"/>
              </a:ext>
            </a:extLst>
          </p:cNvPr>
          <p:cNvCxnSpPr>
            <a:stCxn id="10" idx="1"/>
            <a:endCxn id="11" idx="1"/>
          </p:cNvCxnSpPr>
          <p:nvPr/>
        </p:nvCxnSpPr>
        <p:spPr>
          <a:xfrm rot="10800000" flipH="1">
            <a:off x="5067300" y="4471980"/>
            <a:ext cx="361950" cy="1314450"/>
          </a:xfrm>
          <a:prstGeom prst="bentConnector3">
            <a:avLst>
              <a:gd name="adj1" fmla="val -163158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ipse 38">
            <a:extLst>
              <a:ext uri="{FF2B5EF4-FFF2-40B4-BE49-F238E27FC236}">
                <a16:creationId xmlns:a16="http://schemas.microsoft.com/office/drawing/2014/main" id="{411E3BC7-249F-4DA2-91D8-F19C008DBCB1}"/>
              </a:ext>
            </a:extLst>
          </p:cNvPr>
          <p:cNvSpPr/>
          <p:nvPr/>
        </p:nvSpPr>
        <p:spPr>
          <a:xfrm>
            <a:off x="7496175" y="4074315"/>
            <a:ext cx="1228725" cy="7953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/>
              <a:t>FIN</a:t>
            </a:r>
          </a:p>
        </p:txBody>
      </p:sp>
      <p:cxnSp>
        <p:nvCxnSpPr>
          <p:cNvPr id="41" name="Conector recto de flecha 40">
            <a:extLst>
              <a:ext uri="{FF2B5EF4-FFF2-40B4-BE49-F238E27FC236}">
                <a16:creationId xmlns:a16="http://schemas.microsoft.com/office/drawing/2014/main" id="{6FD4F4A4-6A00-4755-9FA7-015D2CD88726}"/>
              </a:ext>
            </a:extLst>
          </p:cNvPr>
          <p:cNvCxnSpPr>
            <a:stCxn id="11" idx="3"/>
            <a:endCxn id="39" idx="2"/>
          </p:cNvCxnSpPr>
          <p:nvPr/>
        </p:nvCxnSpPr>
        <p:spPr>
          <a:xfrm>
            <a:off x="6858000" y="4471980"/>
            <a:ext cx="63817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Marcador de pie de página 42">
            <a:extLst>
              <a:ext uri="{FF2B5EF4-FFF2-40B4-BE49-F238E27FC236}">
                <a16:creationId xmlns:a16="http://schemas.microsoft.com/office/drawing/2014/main" id="{8C16232F-5708-4BEA-9AE5-8CE65BAA2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BO" dirty="0"/>
              <a:t>ETN - 1034</a:t>
            </a:r>
          </a:p>
        </p:txBody>
      </p:sp>
      <p:sp>
        <p:nvSpPr>
          <p:cNvPr id="44" name="Marcador de número de diapositiva 43">
            <a:extLst>
              <a:ext uri="{FF2B5EF4-FFF2-40B4-BE49-F238E27FC236}">
                <a16:creationId xmlns:a16="http://schemas.microsoft.com/office/drawing/2014/main" id="{E51F6688-D077-483D-9BF6-71F576ABE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6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452650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45023B-D57E-4BE5-ABCA-3F30BF0AA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/>
              <a:t>INICALIZACIÓN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80B4C1-E5B8-4C6E-8398-615024E3D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16642" cy="4351338"/>
          </a:xfrm>
        </p:spPr>
        <p:txBody>
          <a:bodyPr/>
          <a:lstStyle/>
          <a:p>
            <a:r>
              <a:rPr lang="es-BO" dirty="0"/>
              <a:t>CONFIGURACION DE REGISTROS</a:t>
            </a:r>
          </a:p>
          <a:p>
            <a:r>
              <a:rPr lang="es-BO" dirty="0"/>
              <a:t>TRISG (Entrada/Salida)</a:t>
            </a:r>
          </a:p>
          <a:p>
            <a:r>
              <a:rPr lang="es-BO" dirty="0"/>
              <a:t>ANSELG (configurar I/0 A/D)</a:t>
            </a:r>
          </a:p>
          <a:p>
            <a:r>
              <a:rPr lang="es-BO" dirty="0"/>
              <a:t>TX2STA (modo, velocidad, </a:t>
            </a:r>
            <a:r>
              <a:rPr lang="es-BO" dirty="0" err="1"/>
              <a:t>bits,habilitar</a:t>
            </a:r>
            <a:r>
              <a:rPr lang="es-BO" dirty="0"/>
              <a:t>)</a:t>
            </a:r>
          </a:p>
          <a:p>
            <a:r>
              <a:rPr lang="es-BO" dirty="0"/>
              <a:t>SPBRGL (BAUD)</a:t>
            </a:r>
          </a:p>
          <a:p>
            <a:r>
              <a:rPr lang="es-BO" dirty="0"/>
              <a:t>RC2STA (habilitar UART, </a:t>
            </a:r>
            <a:r>
              <a:rPr lang="es-BO" dirty="0" err="1"/>
              <a:t>Rx</a:t>
            </a:r>
            <a:r>
              <a:rPr lang="es-BO" dirty="0"/>
              <a:t>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11073A0-B0CB-4D5D-B5E9-67C13BEDB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512" y="1604962"/>
            <a:ext cx="6678488" cy="3648076"/>
          </a:xfrm>
          <a:prstGeom prst="rect">
            <a:avLst/>
          </a:prstGeom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E09BF3-2DEE-4082-AB65-89129AED3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BO" dirty="0"/>
              <a:t>ETN - 1034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BFF774-18F9-4F4B-BAD5-AD07930D4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7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834581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21D36-0698-486C-946B-EF703B63A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070" y="30779"/>
            <a:ext cx="10515600" cy="1325563"/>
          </a:xfrm>
        </p:spPr>
        <p:txBody>
          <a:bodyPr/>
          <a:lstStyle/>
          <a:p>
            <a:r>
              <a:rPr lang="es-BO" dirty="0"/>
              <a:t>PROGRAMA-UART PIC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F2CE35A-41F2-4D0D-9EBB-4C8EDA8AE987}"/>
              </a:ext>
            </a:extLst>
          </p:cNvPr>
          <p:cNvSpPr/>
          <p:nvPr/>
        </p:nvSpPr>
        <p:spPr>
          <a:xfrm>
            <a:off x="1491910" y="1371883"/>
            <a:ext cx="1243263" cy="6497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 err="1"/>
              <a:t>read</a:t>
            </a:r>
            <a:endParaRPr lang="es-BO" dirty="0"/>
          </a:p>
        </p:txBody>
      </p:sp>
      <p:sp>
        <p:nvSpPr>
          <p:cNvPr id="5" name="Diagrama de flujo: decisión 4">
            <a:extLst>
              <a:ext uri="{FF2B5EF4-FFF2-40B4-BE49-F238E27FC236}">
                <a16:creationId xmlns:a16="http://schemas.microsoft.com/office/drawing/2014/main" id="{72B5F9D2-3C64-4E9E-B5A7-4A557F39AE76}"/>
              </a:ext>
            </a:extLst>
          </p:cNvPr>
          <p:cNvSpPr/>
          <p:nvPr/>
        </p:nvSpPr>
        <p:spPr>
          <a:xfrm>
            <a:off x="4146271" y="2385301"/>
            <a:ext cx="1965161" cy="9144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/>
              <a:t>REG VACIO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261A36B9-3E6F-488D-B32C-45CAD681403B}"/>
              </a:ext>
            </a:extLst>
          </p:cNvPr>
          <p:cNvSpPr/>
          <p:nvPr/>
        </p:nvSpPr>
        <p:spPr>
          <a:xfrm>
            <a:off x="2537669" y="3470962"/>
            <a:ext cx="949483" cy="6497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/>
              <a:t>0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F6C538F-38CE-492B-984A-83791A683C99}"/>
              </a:ext>
            </a:extLst>
          </p:cNvPr>
          <p:cNvSpPr/>
          <p:nvPr/>
        </p:nvSpPr>
        <p:spPr>
          <a:xfrm>
            <a:off x="405070" y="3526652"/>
            <a:ext cx="1509963" cy="6497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/>
              <a:t>RCREG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DEDC8E9-04CC-49D4-8064-89EAAD732088}"/>
              </a:ext>
            </a:extLst>
          </p:cNvPr>
          <p:cNvSpPr/>
          <p:nvPr/>
        </p:nvSpPr>
        <p:spPr>
          <a:xfrm>
            <a:off x="4433024" y="1509461"/>
            <a:ext cx="1387643" cy="6497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 err="1"/>
              <a:t>Write</a:t>
            </a:r>
            <a:endParaRPr lang="es-BO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73630D4-5170-4109-B4CA-3CF648C70262}"/>
              </a:ext>
            </a:extLst>
          </p:cNvPr>
          <p:cNvSpPr/>
          <p:nvPr/>
        </p:nvSpPr>
        <p:spPr>
          <a:xfrm>
            <a:off x="4272602" y="3570324"/>
            <a:ext cx="1708485" cy="649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/>
              <a:t>TXREG = dato</a:t>
            </a:r>
          </a:p>
        </p:txBody>
      </p:sp>
      <p:sp>
        <p:nvSpPr>
          <p:cNvPr id="11" name="Diagrama de flujo: decisión 10">
            <a:extLst>
              <a:ext uri="{FF2B5EF4-FFF2-40B4-BE49-F238E27FC236}">
                <a16:creationId xmlns:a16="http://schemas.microsoft.com/office/drawing/2014/main" id="{A70F6449-033D-4B26-A281-F774FA15512A}"/>
              </a:ext>
            </a:extLst>
          </p:cNvPr>
          <p:cNvSpPr/>
          <p:nvPr/>
        </p:nvSpPr>
        <p:spPr>
          <a:xfrm>
            <a:off x="1259298" y="2378248"/>
            <a:ext cx="1708485" cy="9144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/>
              <a:t>HAY DATO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322C237-35C3-44D4-B8C6-D29BAD49BF98}"/>
              </a:ext>
            </a:extLst>
          </p:cNvPr>
          <p:cNvSpPr/>
          <p:nvPr/>
        </p:nvSpPr>
        <p:spPr>
          <a:xfrm>
            <a:off x="8640475" y="1540793"/>
            <a:ext cx="1387643" cy="6497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 err="1"/>
              <a:t>printf</a:t>
            </a:r>
            <a:endParaRPr lang="es-BO" dirty="0"/>
          </a:p>
        </p:txBody>
      </p:sp>
      <p:sp>
        <p:nvSpPr>
          <p:cNvPr id="15" name="Diagrama de flujo: decisión 14">
            <a:extLst>
              <a:ext uri="{FF2B5EF4-FFF2-40B4-BE49-F238E27FC236}">
                <a16:creationId xmlns:a16="http://schemas.microsoft.com/office/drawing/2014/main" id="{BDB951D6-33E3-47BE-93A2-2103EEF7EC17}"/>
              </a:ext>
            </a:extLst>
          </p:cNvPr>
          <p:cNvSpPr/>
          <p:nvPr/>
        </p:nvSpPr>
        <p:spPr>
          <a:xfrm>
            <a:off x="8351715" y="2387694"/>
            <a:ext cx="1965161" cy="9144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/>
              <a:t>DATOS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278618B-B5A5-4896-85A1-4DDBC7C4A749}"/>
              </a:ext>
            </a:extLst>
          </p:cNvPr>
          <p:cNvSpPr/>
          <p:nvPr/>
        </p:nvSpPr>
        <p:spPr>
          <a:xfrm>
            <a:off x="8480052" y="3499747"/>
            <a:ext cx="1708485" cy="6497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/>
              <a:t>WRITE</a:t>
            </a:r>
          </a:p>
          <a:p>
            <a:pPr algn="ctr"/>
            <a:r>
              <a:rPr lang="es-BO" dirty="0"/>
              <a:t>desplazar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A7E8186-FF25-4B16-900C-E6AFB5E71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35" y="4698981"/>
            <a:ext cx="3252066" cy="1791955"/>
          </a:xfrm>
          <a:prstGeom prst="rect">
            <a:avLst/>
          </a:prstGeom>
        </p:spPr>
      </p:pic>
      <p:sp>
        <p:nvSpPr>
          <p:cNvPr id="18" name="Elipse 17">
            <a:extLst>
              <a:ext uri="{FF2B5EF4-FFF2-40B4-BE49-F238E27FC236}">
                <a16:creationId xmlns:a16="http://schemas.microsoft.com/office/drawing/2014/main" id="{372A8EF5-3C9F-49EF-A857-6C103BF549D1}"/>
              </a:ext>
            </a:extLst>
          </p:cNvPr>
          <p:cNvSpPr/>
          <p:nvPr/>
        </p:nvSpPr>
        <p:spPr>
          <a:xfrm>
            <a:off x="6509661" y="2550694"/>
            <a:ext cx="1239245" cy="6497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 err="1"/>
              <a:t>return</a:t>
            </a:r>
            <a:endParaRPr lang="es-BO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77786C33-01BF-4A4A-A086-163D81A955C1}"/>
              </a:ext>
            </a:extLst>
          </p:cNvPr>
          <p:cNvSpPr/>
          <p:nvPr/>
        </p:nvSpPr>
        <p:spPr>
          <a:xfrm>
            <a:off x="10652845" y="2550694"/>
            <a:ext cx="1239245" cy="6497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 err="1"/>
              <a:t>return</a:t>
            </a:r>
            <a:endParaRPr lang="es-BO" dirty="0"/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0C20B551-BD3B-43C7-95FB-3EBBDFA3BF3D}"/>
              </a:ext>
            </a:extLst>
          </p:cNvPr>
          <p:cNvCxnSpPr>
            <a:stCxn id="4" idx="4"/>
            <a:endCxn id="11" idx="0"/>
          </p:cNvCxnSpPr>
          <p:nvPr/>
        </p:nvCxnSpPr>
        <p:spPr>
          <a:xfrm flipH="1">
            <a:off x="2113541" y="2021589"/>
            <a:ext cx="1" cy="356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89F7048B-6707-4A7F-AA79-3DED37982A32}"/>
              </a:ext>
            </a:extLst>
          </p:cNvPr>
          <p:cNvCxnSpPr>
            <a:stCxn id="11" idx="1"/>
            <a:endCxn id="8" idx="0"/>
          </p:cNvCxnSpPr>
          <p:nvPr/>
        </p:nvCxnSpPr>
        <p:spPr>
          <a:xfrm rot="10800000" flipV="1">
            <a:off x="1160052" y="2835448"/>
            <a:ext cx="99246" cy="6912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A5416FFD-8546-4D48-A1DC-61AAF99FCEC1}"/>
              </a:ext>
            </a:extLst>
          </p:cNvPr>
          <p:cNvCxnSpPr>
            <a:stCxn id="11" idx="3"/>
          </p:cNvCxnSpPr>
          <p:nvPr/>
        </p:nvCxnSpPr>
        <p:spPr>
          <a:xfrm>
            <a:off x="2967783" y="2835448"/>
            <a:ext cx="44627" cy="7299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003FB344-28D4-430D-9F81-2F82354A7245}"/>
              </a:ext>
            </a:extLst>
          </p:cNvPr>
          <p:cNvCxnSpPr>
            <a:stCxn id="9" idx="4"/>
            <a:endCxn id="5" idx="0"/>
          </p:cNvCxnSpPr>
          <p:nvPr/>
        </p:nvCxnSpPr>
        <p:spPr>
          <a:xfrm>
            <a:off x="5126846" y="2159167"/>
            <a:ext cx="2006" cy="226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Imagen 27">
            <a:extLst>
              <a:ext uri="{FF2B5EF4-FFF2-40B4-BE49-F238E27FC236}">
                <a16:creationId xmlns:a16="http://schemas.microsoft.com/office/drawing/2014/main" id="{DDF22349-47CD-49CE-B4D6-8806F1624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411" y="5450161"/>
            <a:ext cx="3626778" cy="1183313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DC583B33-D70D-41DF-A7AC-B14255BFC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013" y="5155574"/>
            <a:ext cx="3467326" cy="1702426"/>
          </a:xfrm>
          <a:prstGeom prst="rect">
            <a:avLst/>
          </a:prstGeom>
        </p:spPr>
      </p:pic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A50DDD32-644A-40B9-9B4F-2C60E4009A58}"/>
              </a:ext>
            </a:extLst>
          </p:cNvPr>
          <p:cNvCxnSpPr>
            <a:stCxn id="5" idx="2"/>
            <a:endCxn id="10" idx="0"/>
          </p:cNvCxnSpPr>
          <p:nvPr/>
        </p:nvCxnSpPr>
        <p:spPr>
          <a:xfrm flipH="1">
            <a:off x="5126845" y="3299701"/>
            <a:ext cx="2007" cy="270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angular 33">
            <a:extLst>
              <a:ext uri="{FF2B5EF4-FFF2-40B4-BE49-F238E27FC236}">
                <a16:creationId xmlns:a16="http://schemas.microsoft.com/office/drawing/2014/main" id="{971121AD-E517-438A-8E8C-AEDE8137B212}"/>
              </a:ext>
            </a:extLst>
          </p:cNvPr>
          <p:cNvCxnSpPr>
            <a:stCxn id="10" idx="2"/>
            <a:endCxn id="5" idx="1"/>
          </p:cNvCxnSpPr>
          <p:nvPr/>
        </p:nvCxnSpPr>
        <p:spPr>
          <a:xfrm rot="5400000" flipH="1">
            <a:off x="3947793" y="3040979"/>
            <a:ext cx="1377529" cy="980574"/>
          </a:xfrm>
          <a:prstGeom prst="bentConnector4">
            <a:avLst>
              <a:gd name="adj1" fmla="val -16595"/>
              <a:gd name="adj2" fmla="val 12331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: angular 35">
            <a:extLst>
              <a:ext uri="{FF2B5EF4-FFF2-40B4-BE49-F238E27FC236}">
                <a16:creationId xmlns:a16="http://schemas.microsoft.com/office/drawing/2014/main" id="{3E436B9C-6B97-4231-A3C9-64FB8AA323A5}"/>
              </a:ext>
            </a:extLst>
          </p:cNvPr>
          <p:cNvCxnSpPr>
            <a:stCxn id="16" idx="2"/>
            <a:endCxn id="15" idx="1"/>
          </p:cNvCxnSpPr>
          <p:nvPr/>
        </p:nvCxnSpPr>
        <p:spPr>
          <a:xfrm rot="5400000" flipH="1">
            <a:off x="8190725" y="3005884"/>
            <a:ext cx="1304559" cy="982580"/>
          </a:xfrm>
          <a:prstGeom prst="bentConnector4">
            <a:avLst>
              <a:gd name="adj1" fmla="val -17523"/>
              <a:gd name="adj2" fmla="val 12326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B34C4146-F3C5-444B-9F32-7215919FCF85}"/>
              </a:ext>
            </a:extLst>
          </p:cNvPr>
          <p:cNvCxnSpPr>
            <a:stCxn id="14" idx="4"/>
            <a:endCxn id="15" idx="0"/>
          </p:cNvCxnSpPr>
          <p:nvPr/>
        </p:nvCxnSpPr>
        <p:spPr>
          <a:xfrm flipH="1">
            <a:off x="9334296" y="2190499"/>
            <a:ext cx="1" cy="197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4541A891-CF60-4FF9-A45B-4FFE156D522B}"/>
              </a:ext>
            </a:extLst>
          </p:cNvPr>
          <p:cNvCxnSpPr>
            <a:stCxn id="5" idx="3"/>
            <a:endCxn id="18" idx="2"/>
          </p:cNvCxnSpPr>
          <p:nvPr/>
        </p:nvCxnSpPr>
        <p:spPr>
          <a:xfrm>
            <a:off x="6111432" y="2842501"/>
            <a:ext cx="398229" cy="33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8EBE1BFF-8A53-4A65-90B6-E838272B205D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 flipH="1">
            <a:off x="9334295" y="3302094"/>
            <a:ext cx="1" cy="197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>
            <a:extLst>
              <a:ext uri="{FF2B5EF4-FFF2-40B4-BE49-F238E27FC236}">
                <a16:creationId xmlns:a16="http://schemas.microsoft.com/office/drawing/2014/main" id="{143B687B-AA61-4059-905E-D221EB8AEEDA}"/>
              </a:ext>
            </a:extLst>
          </p:cNvPr>
          <p:cNvCxnSpPr>
            <a:stCxn id="15" idx="3"/>
            <a:endCxn id="19" idx="2"/>
          </p:cNvCxnSpPr>
          <p:nvPr/>
        </p:nvCxnSpPr>
        <p:spPr>
          <a:xfrm>
            <a:off x="10316876" y="2844894"/>
            <a:ext cx="335969" cy="30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Marcador de pie de página 44">
            <a:extLst>
              <a:ext uri="{FF2B5EF4-FFF2-40B4-BE49-F238E27FC236}">
                <a16:creationId xmlns:a16="http://schemas.microsoft.com/office/drawing/2014/main" id="{D207955F-8A30-4637-AF9F-205B271B4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BO" dirty="0"/>
              <a:t>ETN - 1034</a:t>
            </a:r>
          </a:p>
        </p:txBody>
      </p:sp>
      <p:sp>
        <p:nvSpPr>
          <p:cNvPr id="46" name="Marcador de número de diapositiva 45">
            <a:extLst>
              <a:ext uri="{FF2B5EF4-FFF2-40B4-BE49-F238E27FC236}">
                <a16:creationId xmlns:a16="http://schemas.microsoft.com/office/drawing/2014/main" id="{37085921-3565-4483-A221-98CCF553B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8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297409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E229B-8B87-47F9-8C0D-A7A56BEC1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12844"/>
            <a:ext cx="10515600" cy="1325563"/>
          </a:xfrm>
        </p:spPr>
        <p:txBody>
          <a:bodyPr/>
          <a:lstStyle/>
          <a:p>
            <a:r>
              <a:rPr lang="es-BO" dirty="0"/>
              <a:t>PROGRAMA EN PIC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79EA252-C784-4149-96F7-F5C4A97D3F07}"/>
              </a:ext>
            </a:extLst>
          </p:cNvPr>
          <p:cNvSpPr/>
          <p:nvPr/>
        </p:nvSpPr>
        <p:spPr>
          <a:xfrm>
            <a:off x="5219699" y="2182582"/>
            <a:ext cx="1990061" cy="8134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/>
              <a:t>Dato = UART_READ</a:t>
            </a:r>
          </a:p>
        </p:txBody>
      </p:sp>
      <p:sp>
        <p:nvSpPr>
          <p:cNvPr id="7" name="Diagrama de flujo: decisión 6">
            <a:extLst>
              <a:ext uri="{FF2B5EF4-FFF2-40B4-BE49-F238E27FC236}">
                <a16:creationId xmlns:a16="http://schemas.microsoft.com/office/drawing/2014/main" id="{D6C4ADDF-C958-4D11-BCD2-E671E9A521F1}"/>
              </a:ext>
            </a:extLst>
          </p:cNvPr>
          <p:cNvSpPr/>
          <p:nvPr/>
        </p:nvSpPr>
        <p:spPr>
          <a:xfrm>
            <a:off x="5100969" y="3333353"/>
            <a:ext cx="2223978" cy="81346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/>
              <a:t>Dato = m 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21A8849-17CA-4E37-B526-19C91ACCD023}"/>
              </a:ext>
            </a:extLst>
          </p:cNvPr>
          <p:cNvSpPr/>
          <p:nvPr/>
        </p:nvSpPr>
        <p:spPr>
          <a:xfrm>
            <a:off x="975958" y="4887098"/>
            <a:ext cx="1518217" cy="5708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/>
              <a:t>No mover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78C02F7-F0A9-4EAA-8EC6-0118B987E031}"/>
              </a:ext>
            </a:extLst>
          </p:cNvPr>
          <p:cNvSpPr/>
          <p:nvPr/>
        </p:nvSpPr>
        <p:spPr>
          <a:xfrm>
            <a:off x="3028507" y="4924312"/>
            <a:ext cx="1518217" cy="5708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 err="1"/>
              <a:t>Mov</a:t>
            </a:r>
            <a:r>
              <a:rPr lang="es-BO" dirty="0"/>
              <a:t>. izq.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C4D10BF0-D5C8-4585-A76A-2FFD2EB92D66}"/>
              </a:ext>
            </a:extLst>
          </p:cNvPr>
          <p:cNvSpPr/>
          <p:nvPr/>
        </p:nvSpPr>
        <p:spPr>
          <a:xfrm>
            <a:off x="5081056" y="4904605"/>
            <a:ext cx="1518217" cy="5708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 err="1"/>
              <a:t>Mov</a:t>
            </a:r>
            <a:r>
              <a:rPr lang="es-BO" dirty="0"/>
              <a:t>. izq.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028015E-2985-4AEB-A7B0-9C503BB229AE}"/>
              </a:ext>
            </a:extLst>
          </p:cNvPr>
          <p:cNvSpPr/>
          <p:nvPr/>
        </p:nvSpPr>
        <p:spPr>
          <a:xfrm>
            <a:off x="9163493" y="4908363"/>
            <a:ext cx="1518217" cy="5708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 err="1"/>
              <a:t>Mov</a:t>
            </a:r>
            <a:r>
              <a:rPr lang="es-BO" dirty="0"/>
              <a:t>. arriba.</a:t>
            </a:r>
          </a:p>
        </p:txBody>
      </p: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2946A412-A8E6-42B9-AB3E-82B759CDFFD9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5400000">
            <a:off x="3603875" y="2278015"/>
            <a:ext cx="740276" cy="44778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: angular 26">
            <a:extLst>
              <a:ext uri="{FF2B5EF4-FFF2-40B4-BE49-F238E27FC236}">
                <a16:creationId xmlns:a16="http://schemas.microsoft.com/office/drawing/2014/main" id="{7F7B8FAA-6DF3-4B4F-AEC6-F54BF82206B6}"/>
              </a:ext>
            </a:extLst>
          </p:cNvPr>
          <p:cNvCxnSpPr>
            <a:stCxn id="7" idx="2"/>
            <a:endCxn id="11" idx="0"/>
          </p:cNvCxnSpPr>
          <p:nvPr/>
        </p:nvCxnSpPr>
        <p:spPr>
          <a:xfrm rot="5400000">
            <a:off x="4611542" y="3322896"/>
            <a:ext cx="777490" cy="242534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AD2DEFAA-430D-48A6-8415-5122E27130FD}"/>
              </a:ext>
            </a:extLst>
          </p:cNvPr>
          <p:cNvCxnSpPr>
            <a:stCxn id="7" idx="2"/>
            <a:endCxn id="13" idx="0"/>
          </p:cNvCxnSpPr>
          <p:nvPr/>
        </p:nvCxnSpPr>
        <p:spPr>
          <a:xfrm rot="16200000" flipH="1">
            <a:off x="7687010" y="2672770"/>
            <a:ext cx="761541" cy="370964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86F40B3C-5F4C-4E8C-8ECF-1D52F4861054}"/>
              </a:ext>
            </a:extLst>
          </p:cNvPr>
          <p:cNvCxnSpPr>
            <a:stCxn id="7" idx="2"/>
            <a:endCxn id="12" idx="0"/>
          </p:cNvCxnSpPr>
          <p:nvPr/>
        </p:nvCxnSpPr>
        <p:spPr>
          <a:xfrm rot="5400000">
            <a:off x="5647671" y="4339317"/>
            <a:ext cx="757783" cy="37279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8120F86-6CE4-4305-A461-95DC62C3365A}"/>
              </a:ext>
            </a:extLst>
          </p:cNvPr>
          <p:cNvSpPr/>
          <p:nvPr/>
        </p:nvSpPr>
        <p:spPr>
          <a:xfrm>
            <a:off x="7091030" y="4925629"/>
            <a:ext cx="1518217" cy="5708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3600" dirty="0">
                <a:solidFill>
                  <a:schemeClr val="tx1"/>
                </a:solidFill>
              </a:rPr>
              <a:t>…</a:t>
            </a:r>
            <a:r>
              <a:rPr lang="es-BO" dirty="0"/>
              <a:t>.</a:t>
            </a:r>
          </a:p>
        </p:txBody>
      </p:sp>
      <p:cxnSp>
        <p:nvCxnSpPr>
          <p:cNvPr id="36" name="Conector: angular 35">
            <a:extLst>
              <a:ext uri="{FF2B5EF4-FFF2-40B4-BE49-F238E27FC236}">
                <a16:creationId xmlns:a16="http://schemas.microsoft.com/office/drawing/2014/main" id="{64C47D1C-2B1C-495A-BD26-DCE7986677B7}"/>
              </a:ext>
            </a:extLst>
          </p:cNvPr>
          <p:cNvCxnSpPr>
            <a:stCxn id="7" idx="2"/>
            <a:endCxn id="34" idx="0"/>
          </p:cNvCxnSpPr>
          <p:nvPr/>
        </p:nvCxnSpPr>
        <p:spPr>
          <a:xfrm rot="16200000" flipH="1">
            <a:off x="6642145" y="3717634"/>
            <a:ext cx="778807" cy="16371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: angular 39">
            <a:extLst>
              <a:ext uri="{FF2B5EF4-FFF2-40B4-BE49-F238E27FC236}">
                <a16:creationId xmlns:a16="http://schemas.microsoft.com/office/drawing/2014/main" id="{7E557270-E30A-4107-83EE-33A13BBFF9E4}"/>
              </a:ext>
            </a:extLst>
          </p:cNvPr>
          <p:cNvCxnSpPr>
            <a:stCxn id="10" idx="2"/>
            <a:endCxn id="11" idx="2"/>
          </p:cNvCxnSpPr>
          <p:nvPr/>
        </p:nvCxnSpPr>
        <p:spPr>
          <a:xfrm rot="16200000" flipH="1">
            <a:off x="2742734" y="4450231"/>
            <a:ext cx="37214" cy="2052549"/>
          </a:xfrm>
          <a:prstGeom prst="bentConnector3">
            <a:avLst>
              <a:gd name="adj1" fmla="val 71428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: angular 41">
            <a:extLst>
              <a:ext uri="{FF2B5EF4-FFF2-40B4-BE49-F238E27FC236}">
                <a16:creationId xmlns:a16="http://schemas.microsoft.com/office/drawing/2014/main" id="{6C666B87-7777-4BD7-981C-256668A35D25}"/>
              </a:ext>
            </a:extLst>
          </p:cNvPr>
          <p:cNvCxnSpPr>
            <a:stCxn id="11" idx="2"/>
            <a:endCxn id="12" idx="2"/>
          </p:cNvCxnSpPr>
          <p:nvPr/>
        </p:nvCxnSpPr>
        <p:spPr>
          <a:xfrm rot="5400000" flipH="1" flipV="1">
            <a:off x="4804036" y="4458985"/>
            <a:ext cx="19707" cy="2052549"/>
          </a:xfrm>
          <a:prstGeom prst="bentConnector3">
            <a:avLst>
              <a:gd name="adj1" fmla="val -115999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: angular 43">
            <a:extLst>
              <a:ext uri="{FF2B5EF4-FFF2-40B4-BE49-F238E27FC236}">
                <a16:creationId xmlns:a16="http://schemas.microsoft.com/office/drawing/2014/main" id="{FE3D3640-F0FA-419E-B7C8-6A96E5AFA4ED}"/>
              </a:ext>
            </a:extLst>
          </p:cNvPr>
          <p:cNvCxnSpPr>
            <a:stCxn id="12" idx="2"/>
            <a:endCxn id="34" idx="2"/>
          </p:cNvCxnSpPr>
          <p:nvPr/>
        </p:nvCxnSpPr>
        <p:spPr>
          <a:xfrm rot="16200000" flipH="1">
            <a:off x="6834640" y="4480931"/>
            <a:ext cx="21024" cy="2009974"/>
          </a:xfrm>
          <a:prstGeom prst="bentConnector3">
            <a:avLst>
              <a:gd name="adj1" fmla="val 118732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angular 45">
            <a:extLst>
              <a:ext uri="{FF2B5EF4-FFF2-40B4-BE49-F238E27FC236}">
                <a16:creationId xmlns:a16="http://schemas.microsoft.com/office/drawing/2014/main" id="{D2AD4616-1447-480F-9906-5FDAA986557A}"/>
              </a:ext>
            </a:extLst>
          </p:cNvPr>
          <p:cNvCxnSpPr>
            <a:stCxn id="34" idx="2"/>
            <a:endCxn id="13" idx="2"/>
          </p:cNvCxnSpPr>
          <p:nvPr/>
        </p:nvCxnSpPr>
        <p:spPr>
          <a:xfrm rot="5400000" flipH="1" flipV="1">
            <a:off x="8877737" y="4451565"/>
            <a:ext cx="17266" cy="2072463"/>
          </a:xfrm>
          <a:prstGeom prst="bentConnector3">
            <a:avLst>
              <a:gd name="adj1" fmla="val -132398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Diagrama de flujo: decisión 46">
            <a:extLst>
              <a:ext uri="{FF2B5EF4-FFF2-40B4-BE49-F238E27FC236}">
                <a16:creationId xmlns:a16="http://schemas.microsoft.com/office/drawing/2014/main" id="{FFEA5370-699A-4295-B5AB-EE7DE6C5D0E4}"/>
              </a:ext>
            </a:extLst>
          </p:cNvPr>
          <p:cNvSpPr/>
          <p:nvPr/>
        </p:nvSpPr>
        <p:spPr>
          <a:xfrm>
            <a:off x="5104514" y="1018065"/>
            <a:ext cx="2223978" cy="813469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/>
              <a:t>1</a:t>
            </a:r>
          </a:p>
        </p:txBody>
      </p: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2B2AE9BE-BEC7-4578-87C5-A5BDE6D85B3D}"/>
              </a:ext>
            </a:extLst>
          </p:cNvPr>
          <p:cNvCxnSpPr>
            <a:stCxn id="10" idx="2"/>
            <a:endCxn id="47" idx="1"/>
          </p:cNvCxnSpPr>
          <p:nvPr/>
        </p:nvCxnSpPr>
        <p:spPr>
          <a:xfrm rot="5400000" flipH="1" flipV="1">
            <a:off x="1403240" y="1756626"/>
            <a:ext cx="4033099" cy="3369447"/>
          </a:xfrm>
          <a:prstGeom prst="bentConnector4">
            <a:avLst>
              <a:gd name="adj1" fmla="val -5668"/>
              <a:gd name="adj2" fmla="val -3592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>
            <a:extLst>
              <a:ext uri="{FF2B5EF4-FFF2-40B4-BE49-F238E27FC236}">
                <a16:creationId xmlns:a16="http://schemas.microsoft.com/office/drawing/2014/main" id="{0EF4BFEF-B836-495F-9155-72909CA2F60E}"/>
              </a:ext>
            </a:extLst>
          </p:cNvPr>
          <p:cNvCxnSpPr>
            <a:stCxn id="47" idx="2"/>
            <a:endCxn id="5" idx="0"/>
          </p:cNvCxnSpPr>
          <p:nvPr/>
        </p:nvCxnSpPr>
        <p:spPr>
          <a:xfrm flipH="1">
            <a:off x="6214730" y="1831534"/>
            <a:ext cx="1773" cy="3510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0A1A5A4C-FCF7-47CE-B966-C18B8531DB28}"/>
              </a:ext>
            </a:extLst>
          </p:cNvPr>
          <p:cNvCxnSpPr>
            <a:stCxn id="5" idx="2"/>
            <a:endCxn id="7" idx="0"/>
          </p:cNvCxnSpPr>
          <p:nvPr/>
        </p:nvCxnSpPr>
        <p:spPr>
          <a:xfrm flipH="1">
            <a:off x="6212958" y="2996051"/>
            <a:ext cx="1772" cy="3373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uadroTexto 57">
            <a:extLst>
              <a:ext uri="{FF2B5EF4-FFF2-40B4-BE49-F238E27FC236}">
                <a16:creationId xmlns:a16="http://schemas.microsoft.com/office/drawing/2014/main" id="{3EF53532-43AE-4754-8D59-91DB5D00767D}"/>
              </a:ext>
            </a:extLst>
          </p:cNvPr>
          <p:cNvSpPr txBox="1"/>
          <p:nvPr/>
        </p:nvSpPr>
        <p:spPr>
          <a:xfrm>
            <a:off x="1483593" y="4137720"/>
            <a:ext cx="691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/>
              <a:t>m=0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ED5A357E-51EE-478A-90E1-93AE3DBA39C6}"/>
              </a:ext>
            </a:extLst>
          </p:cNvPr>
          <p:cNvSpPr txBox="1"/>
          <p:nvPr/>
        </p:nvSpPr>
        <p:spPr>
          <a:xfrm>
            <a:off x="3466471" y="4174640"/>
            <a:ext cx="691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/>
              <a:t>m=1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4200EE99-C803-4207-BC4E-E948B2A4770D}"/>
              </a:ext>
            </a:extLst>
          </p:cNvPr>
          <p:cNvSpPr txBox="1"/>
          <p:nvPr/>
        </p:nvSpPr>
        <p:spPr>
          <a:xfrm>
            <a:off x="5449349" y="4167667"/>
            <a:ext cx="691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/>
              <a:t>m=2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680908CD-A4B3-4503-9CFE-6B49075A5159}"/>
              </a:ext>
            </a:extLst>
          </p:cNvPr>
          <p:cNvSpPr txBox="1"/>
          <p:nvPr/>
        </p:nvSpPr>
        <p:spPr>
          <a:xfrm>
            <a:off x="7381747" y="4210310"/>
            <a:ext cx="883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/>
              <a:t>m=n-1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36ED4251-6EF1-48C4-933D-705D7187590F}"/>
              </a:ext>
            </a:extLst>
          </p:cNvPr>
          <p:cNvSpPr txBox="1"/>
          <p:nvPr/>
        </p:nvSpPr>
        <p:spPr>
          <a:xfrm>
            <a:off x="9610760" y="4210310"/>
            <a:ext cx="691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dirty="0"/>
              <a:t>m=n</a:t>
            </a:r>
          </a:p>
        </p:txBody>
      </p:sp>
      <p:pic>
        <p:nvPicPr>
          <p:cNvPr id="63" name="Imagen 62">
            <a:extLst>
              <a:ext uri="{FF2B5EF4-FFF2-40B4-BE49-F238E27FC236}">
                <a16:creationId xmlns:a16="http://schemas.microsoft.com/office/drawing/2014/main" id="{6313AE14-0D78-435C-8F83-C7C52D80F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507" y="351167"/>
            <a:ext cx="4566202" cy="3466932"/>
          </a:xfrm>
          <a:prstGeom prst="rect">
            <a:avLst/>
          </a:prstGeom>
        </p:spPr>
      </p:pic>
      <p:sp>
        <p:nvSpPr>
          <p:cNvPr id="64" name="Marcador de pie de página 63">
            <a:extLst>
              <a:ext uri="{FF2B5EF4-FFF2-40B4-BE49-F238E27FC236}">
                <a16:creationId xmlns:a16="http://schemas.microsoft.com/office/drawing/2014/main" id="{6306B19D-76CA-4F70-B40A-271DEBA5E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BO" dirty="0"/>
              <a:t>ETN - 1034</a:t>
            </a:r>
          </a:p>
        </p:txBody>
      </p:sp>
      <p:sp>
        <p:nvSpPr>
          <p:cNvPr id="65" name="Marcador de número de diapositiva 64">
            <a:extLst>
              <a:ext uri="{FF2B5EF4-FFF2-40B4-BE49-F238E27FC236}">
                <a16:creationId xmlns:a16="http://schemas.microsoft.com/office/drawing/2014/main" id="{3249D2BE-2B53-4303-89F0-C404F9998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9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133812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766F41-9FA5-4FAD-AA09-D8421B298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/>
              <a:t>IMPLEMENTACIÓN INTERFAZ USUARIO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FFF0C323-E312-49AE-99B2-0D4391B07D99}"/>
              </a:ext>
            </a:extLst>
          </p:cNvPr>
          <p:cNvSpPr/>
          <p:nvPr/>
        </p:nvSpPr>
        <p:spPr>
          <a:xfrm>
            <a:off x="5362575" y="1391446"/>
            <a:ext cx="1562100" cy="8001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/>
              <a:t>INICIO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BC54787-19A5-4AE7-8A20-29C33F0DE0F3}"/>
              </a:ext>
            </a:extLst>
          </p:cNvPr>
          <p:cNvSpPr/>
          <p:nvPr/>
        </p:nvSpPr>
        <p:spPr>
          <a:xfrm>
            <a:off x="4791075" y="2667796"/>
            <a:ext cx="2705100" cy="952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/>
              <a:t>INICIALIZACIÓN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914DEEC-C67E-4EFB-A528-5CEB406BE6E4}"/>
              </a:ext>
            </a:extLst>
          </p:cNvPr>
          <p:cNvSpPr/>
          <p:nvPr/>
        </p:nvSpPr>
        <p:spPr>
          <a:xfrm>
            <a:off x="7962900" y="2023270"/>
            <a:ext cx="3448050" cy="14057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BO" dirty="0"/>
              <a:t>Establecer comunicación</a:t>
            </a:r>
          </a:p>
          <a:p>
            <a:pPr algn="ctr"/>
            <a:r>
              <a:rPr lang="es-BO" dirty="0"/>
              <a:t>Establecer BAUD, </a:t>
            </a:r>
            <a:r>
              <a:rPr lang="es-BO" dirty="0" err="1"/>
              <a:t>Num</a:t>
            </a:r>
            <a:r>
              <a:rPr lang="es-BO" dirty="0"/>
              <a:t> de bits paridad, parada igual </a:t>
            </a:r>
            <a:r>
              <a:rPr lang="es-BO" dirty="0" err="1"/>
              <a:t>uC</a:t>
            </a:r>
            <a:endParaRPr lang="es-BO" dirty="0"/>
          </a:p>
          <a:p>
            <a:pPr algn="ctr"/>
            <a:r>
              <a:rPr lang="es-BO" dirty="0"/>
              <a:t>Añadir botones a interfaz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9497DB4-3AB3-42C6-AC84-E93863C4D820}"/>
              </a:ext>
            </a:extLst>
          </p:cNvPr>
          <p:cNvSpPr/>
          <p:nvPr/>
        </p:nvSpPr>
        <p:spPr>
          <a:xfrm>
            <a:off x="5095874" y="5247464"/>
            <a:ext cx="2152650" cy="1104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/>
              <a:t>ENVIAR TRAMA DE MOVIMIENTO</a:t>
            </a:r>
          </a:p>
        </p:txBody>
      </p:sp>
      <p:sp>
        <p:nvSpPr>
          <p:cNvPr id="8" name="Diagrama de flujo: decisión 7">
            <a:extLst>
              <a:ext uri="{FF2B5EF4-FFF2-40B4-BE49-F238E27FC236}">
                <a16:creationId xmlns:a16="http://schemas.microsoft.com/office/drawing/2014/main" id="{C77F5B12-A6CF-496D-AA69-31F5E11EB2F6}"/>
              </a:ext>
            </a:extLst>
          </p:cNvPr>
          <p:cNvSpPr/>
          <p:nvPr/>
        </p:nvSpPr>
        <p:spPr>
          <a:xfrm>
            <a:off x="5067300" y="3995730"/>
            <a:ext cx="2152649" cy="9525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/>
              <a:t>evento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C2538F1-A779-4D93-9E81-08BB59830A80}"/>
              </a:ext>
            </a:extLst>
          </p:cNvPr>
          <p:cNvCxnSpPr>
            <a:stCxn id="4" idx="4"/>
            <a:endCxn id="5" idx="0"/>
          </p:cNvCxnSpPr>
          <p:nvPr/>
        </p:nvCxnSpPr>
        <p:spPr>
          <a:xfrm>
            <a:off x="6143625" y="2191546"/>
            <a:ext cx="0" cy="4762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DE23A62E-DA12-471F-B670-7F30E84FFB33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6143625" y="3620296"/>
            <a:ext cx="0" cy="3754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5F3EB112-2FEE-43F6-A2DB-7EA15F77797C}"/>
              </a:ext>
            </a:extLst>
          </p:cNvPr>
          <p:cNvCxnSpPr>
            <a:cxnSpLocks/>
            <a:stCxn id="8" idx="2"/>
            <a:endCxn id="7" idx="0"/>
          </p:cNvCxnSpPr>
          <p:nvPr/>
        </p:nvCxnSpPr>
        <p:spPr>
          <a:xfrm>
            <a:off x="6143625" y="4948230"/>
            <a:ext cx="28574" cy="2992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0A2E7EB4-CE5C-48FF-A3CC-6B69F42D0E1F}"/>
              </a:ext>
            </a:extLst>
          </p:cNvPr>
          <p:cNvCxnSpPr>
            <a:cxnSpLocks/>
            <a:stCxn id="7" idx="1"/>
            <a:endCxn id="8" idx="1"/>
          </p:cNvCxnSpPr>
          <p:nvPr/>
        </p:nvCxnSpPr>
        <p:spPr>
          <a:xfrm rot="10800000">
            <a:off x="5067300" y="4471980"/>
            <a:ext cx="28574" cy="1327934"/>
          </a:xfrm>
          <a:prstGeom prst="bentConnector3">
            <a:avLst>
              <a:gd name="adj1" fmla="val 900028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161BDE1E-CE79-4CE3-BBDE-1F14E2EDE1FC}"/>
              </a:ext>
            </a:extLst>
          </p:cNvPr>
          <p:cNvSpPr/>
          <p:nvPr/>
        </p:nvSpPr>
        <p:spPr>
          <a:xfrm>
            <a:off x="7730092" y="4074315"/>
            <a:ext cx="1228725" cy="7953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dirty="0" err="1"/>
              <a:t>eusart</a:t>
            </a:r>
            <a:endParaRPr lang="es-BO" dirty="0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2E3F248C-F8D4-4726-A8C0-630EBD631B42}"/>
              </a:ext>
            </a:extLst>
          </p:cNvPr>
          <p:cNvCxnSpPr>
            <a:cxnSpLocks/>
            <a:stCxn id="8" idx="3"/>
            <a:endCxn id="13" idx="2"/>
          </p:cNvCxnSpPr>
          <p:nvPr/>
        </p:nvCxnSpPr>
        <p:spPr>
          <a:xfrm>
            <a:off x="7219949" y="4471980"/>
            <a:ext cx="51014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ángulo 28">
            <a:extLst>
              <a:ext uri="{FF2B5EF4-FFF2-40B4-BE49-F238E27FC236}">
                <a16:creationId xmlns:a16="http://schemas.microsoft.com/office/drawing/2014/main" id="{87B0EB06-4BCA-449C-A97B-29881DF84DBF}"/>
              </a:ext>
            </a:extLst>
          </p:cNvPr>
          <p:cNvSpPr/>
          <p:nvPr/>
        </p:nvSpPr>
        <p:spPr>
          <a:xfrm>
            <a:off x="716479" y="3685375"/>
            <a:ext cx="3448050" cy="14057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BO" dirty="0"/>
              <a:t>Evento por flancos ascendente y descendente</a:t>
            </a:r>
          </a:p>
        </p:txBody>
      </p:sp>
      <p:sp>
        <p:nvSpPr>
          <p:cNvPr id="32" name="Marcador de pie de página 31">
            <a:extLst>
              <a:ext uri="{FF2B5EF4-FFF2-40B4-BE49-F238E27FC236}">
                <a16:creationId xmlns:a16="http://schemas.microsoft.com/office/drawing/2014/main" id="{B4B08419-215C-47B0-941B-0BD80FD9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BO" dirty="0"/>
              <a:t>ETN - 1034</a:t>
            </a:r>
          </a:p>
        </p:txBody>
      </p:sp>
      <p:sp>
        <p:nvSpPr>
          <p:cNvPr id="33" name="Marcador de número de diapositiva 32">
            <a:extLst>
              <a:ext uri="{FF2B5EF4-FFF2-40B4-BE49-F238E27FC236}">
                <a16:creationId xmlns:a16="http://schemas.microsoft.com/office/drawing/2014/main" id="{8061CE0D-0B63-461F-BC9B-D5A29925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10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509226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0DAA85-B58A-4C4F-8B51-9AE68060C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/>
              <a:t>INICIALIZACIÓN INTERFAZ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F104E628-BD93-4CF0-AB6F-507ACDB33F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37951" y="1990130"/>
            <a:ext cx="5211102" cy="387298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D8829D2-AB52-476C-862D-C342C6BF9A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274"/>
          <a:stretch/>
        </p:blipFill>
        <p:spPr>
          <a:xfrm>
            <a:off x="1921564" y="4253012"/>
            <a:ext cx="3242191" cy="2324589"/>
          </a:xfrm>
          <a:prstGeom prst="rect">
            <a:avLst/>
          </a:prstGeom>
        </p:spPr>
      </p:pic>
      <p:sp>
        <p:nvSpPr>
          <p:cNvPr id="6" name="Diagrama de flujo: decisión 5">
            <a:extLst>
              <a:ext uri="{FF2B5EF4-FFF2-40B4-BE49-F238E27FC236}">
                <a16:creationId xmlns:a16="http://schemas.microsoft.com/office/drawing/2014/main" id="{99EDB7BF-8F82-4DFF-BE46-61F27B2041A3}"/>
              </a:ext>
            </a:extLst>
          </p:cNvPr>
          <p:cNvSpPr/>
          <p:nvPr/>
        </p:nvSpPr>
        <p:spPr>
          <a:xfrm>
            <a:off x="2464903" y="1645242"/>
            <a:ext cx="1948070" cy="959747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400" dirty="0"/>
              <a:t>CONECTAR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1D67C96-14AA-43A9-8449-C272CB778D63}"/>
              </a:ext>
            </a:extLst>
          </p:cNvPr>
          <p:cNvSpPr/>
          <p:nvPr/>
        </p:nvSpPr>
        <p:spPr>
          <a:xfrm>
            <a:off x="655981" y="2970805"/>
            <a:ext cx="2531166" cy="809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400" dirty="0"/>
              <a:t>CONFIGURACIÓN Y HABILITACION DEL PUERTO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FAEE79F-2BDF-441E-8938-2EA2F59C9DE0}"/>
              </a:ext>
            </a:extLst>
          </p:cNvPr>
          <p:cNvSpPr/>
          <p:nvPr/>
        </p:nvSpPr>
        <p:spPr>
          <a:xfrm>
            <a:off x="3688417" y="2946619"/>
            <a:ext cx="2531166" cy="809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400" dirty="0"/>
              <a:t>DESHABILITAR PUERTO</a:t>
            </a:r>
          </a:p>
        </p:txBody>
      </p: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B37020B2-34D1-4557-893F-ADE5B05B1F7F}"/>
              </a:ext>
            </a:extLst>
          </p:cNvPr>
          <p:cNvCxnSpPr>
            <a:stCxn id="6" idx="1"/>
          </p:cNvCxnSpPr>
          <p:nvPr/>
        </p:nvCxnSpPr>
        <p:spPr>
          <a:xfrm rot="10800000" flipV="1">
            <a:off x="1921565" y="2125116"/>
            <a:ext cx="543339" cy="10421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04B8C395-61D3-46AC-99D8-3D5EB53A3DAC}"/>
              </a:ext>
            </a:extLst>
          </p:cNvPr>
          <p:cNvCxnSpPr>
            <a:stCxn id="6" idx="3"/>
            <a:endCxn id="8" idx="0"/>
          </p:cNvCxnSpPr>
          <p:nvPr/>
        </p:nvCxnSpPr>
        <p:spPr>
          <a:xfrm>
            <a:off x="4412973" y="2125116"/>
            <a:ext cx="541027" cy="8215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21C18B14-B927-4462-9926-9D870EEA2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BO" dirty="0"/>
              <a:t>ETN - 1034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F0F740ED-B630-4B3B-97E5-9AA753D2D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11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711931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373347-6A0F-4192-8110-573687687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/>
              <a:t>INTEFAZ PRINCIPAL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D97E4EAD-D80A-4254-B663-B82D27D958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4590" y="1710134"/>
            <a:ext cx="5675499" cy="343773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F4065DC-7A3D-4003-A129-1D0277B86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72" y="4401957"/>
            <a:ext cx="5467350" cy="2162175"/>
          </a:xfrm>
          <a:prstGeom prst="rect">
            <a:avLst/>
          </a:prstGeom>
        </p:spPr>
      </p:pic>
      <p:sp>
        <p:nvSpPr>
          <p:cNvPr id="7" name="Diagrama de flujo: decisión 6">
            <a:extLst>
              <a:ext uri="{FF2B5EF4-FFF2-40B4-BE49-F238E27FC236}">
                <a16:creationId xmlns:a16="http://schemas.microsoft.com/office/drawing/2014/main" id="{C03F1469-409D-4223-A8CB-0800C72742FB}"/>
              </a:ext>
            </a:extLst>
          </p:cNvPr>
          <p:cNvSpPr/>
          <p:nvPr/>
        </p:nvSpPr>
        <p:spPr>
          <a:xfrm>
            <a:off x="2152731" y="1690688"/>
            <a:ext cx="1948070" cy="959747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400" dirty="0"/>
              <a:t>MO1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DD22709-BD30-40AB-9B9B-5A3F427F030D}"/>
              </a:ext>
            </a:extLst>
          </p:cNvPr>
          <p:cNvSpPr/>
          <p:nvPr/>
        </p:nvSpPr>
        <p:spPr>
          <a:xfrm>
            <a:off x="343809" y="3016251"/>
            <a:ext cx="2531166" cy="809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400" dirty="0"/>
              <a:t>ENVIAR TRAMA DE MOVIENTO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5917AC3-2627-4789-8937-D09205F6D82C}"/>
              </a:ext>
            </a:extLst>
          </p:cNvPr>
          <p:cNvSpPr/>
          <p:nvPr/>
        </p:nvSpPr>
        <p:spPr>
          <a:xfrm>
            <a:off x="3564834" y="3012938"/>
            <a:ext cx="2531166" cy="8097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BO" sz="1400" dirty="0"/>
              <a:t>ENVIAR TRAMA DE PARADA</a:t>
            </a:r>
          </a:p>
        </p:txBody>
      </p:sp>
      <p:cxnSp>
        <p:nvCxnSpPr>
          <p:cNvPr id="10" name="Conector: angular 9">
            <a:extLst>
              <a:ext uri="{FF2B5EF4-FFF2-40B4-BE49-F238E27FC236}">
                <a16:creationId xmlns:a16="http://schemas.microsoft.com/office/drawing/2014/main" id="{8892EEBE-0807-4C78-9B47-04491A346A6C}"/>
              </a:ext>
            </a:extLst>
          </p:cNvPr>
          <p:cNvCxnSpPr>
            <a:stCxn id="7" idx="1"/>
          </p:cNvCxnSpPr>
          <p:nvPr/>
        </p:nvCxnSpPr>
        <p:spPr>
          <a:xfrm rot="10800000" flipV="1">
            <a:off x="1609393" y="2170562"/>
            <a:ext cx="543339" cy="10421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411CEEDA-DE59-44F3-9FF5-ED67C4A6118B}"/>
              </a:ext>
            </a:extLst>
          </p:cNvPr>
          <p:cNvCxnSpPr>
            <a:stCxn id="7" idx="3"/>
            <a:endCxn id="9" idx="0"/>
          </p:cNvCxnSpPr>
          <p:nvPr/>
        </p:nvCxnSpPr>
        <p:spPr>
          <a:xfrm>
            <a:off x="4100801" y="2170562"/>
            <a:ext cx="729616" cy="8423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C35D228E-ACD8-45FB-B50C-2AAA024E0417}"/>
              </a:ext>
            </a:extLst>
          </p:cNvPr>
          <p:cNvCxnSpPr/>
          <p:nvPr/>
        </p:nvCxnSpPr>
        <p:spPr>
          <a:xfrm flipV="1">
            <a:off x="1272209" y="2385391"/>
            <a:ext cx="0" cy="3062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05F0B95C-E39A-4879-8446-9AD99575E87E}"/>
              </a:ext>
            </a:extLst>
          </p:cNvPr>
          <p:cNvCxnSpPr/>
          <p:nvPr/>
        </p:nvCxnSpPr>
        <p:spPr>
          <a:xfrm>
            <a:off x="5022574" y="2398643"/>
            <a:ext cx="0" cy="29299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arcador de pie de página 17">
            <a:extLst>
              <a:ext uri="{FF2B5EF4-FFF2-40B4-BE49-F238E27FC236}">
                <a16:creationId xmlns:a16="http://schemas.microsoft.com/office/drawing/2014/main" id="{828ED7A5-EC53-436E-AAA1-85A0209C6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BO" dirty="0"/>
              <a:t>ETN - 1034</a:t>
            </a:r>
          </a:p>
        </p:txBody>
      </p:sp>
      <p:sp>
        <p:nvSpPr>
          <p:cNvPr id="19" name="Marcador de número de diapositiva 18">
            <a:extLst>
              <a:ext uri="{FF2B5EF4-FFF2-40B4-BE49-F238E27FC236}">
                <a16:creationId xmlns:a16="http://schemas.microsoft.com/office/drawing/2014/main" id="{0AE10890-985B-4E3A-9022-05A8362D3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8D31E-9C52-4B59-807E-FA1A0DADFE3E}" type="slidenum">
              <a:rPr lang="es-BO" smtClean="0"/>
              <a:t>12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3203479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539</Words>
  <Application>Microsoft Office PowerPoint</Application>
  <PresentationFormat>Panorámica</PresentationFormat>
  <Paragraphs>132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Arial MT</vt:lpstr>
      <vt:lpstr>Calibri</vt:lpstr>
      <vt:lpstr>Calibri Light</vt:lpstr>
      <vt:lpstr>Courier New</vt:lpstr>
      <vt:lpstr>Wingdings</vt:lpstr>
      <vt:lpstr>Tema de Office</vt:lpstr>
      <vt:lpstr>CONTROL POR COMPUTADOR BRAZO DE 6 GL</vt:lpstr>
      <vt:lpstr>INDICE</vt:lpstr>
      <vt:lpstr>COMUNICACIÓN SERIAL ASINCRONA UART</vt:lpstr>
      <vt:lpstr>COMUNICACIÓN SERIAL ASINCRONA UART</vt:lpstr>
      <vt:lpstr>CONFIGURACIÓN DE CONEXION</vt:lpstr>
      <vt:lpstr>IMPLEMENTACIÓN EN uC PIC16F1946</vt:lpstr>
      <vt:lpstr>INICALIZACIÓN</vt:lpstr>
      <vt:lpstr>PROGRAMA-UART PIC</vt:lpstr>
      <vt:lpstr>PROGRAMA EN PIC</vt:lpstr>
      <vt:lpstr>IMPLEMENTACIÓN INTERFAZ USUARIO</vt:lpstr>
      <vt:lpstr>INICIALIZACIÓN INTERFAZ</vt:lpstr>
      <vt:lpstr>INTEFAZ PRINCIPAL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POR COMPUTADOR BRAZO DE 6 GL</dc:title>
  <dc:creator>HP</dc:creator>
  <cp:lastModifiedBy>HP</cp:lastModifiedBy>
  <cp:revision>28</cp:revision>
  <dcterms:created xsi:type="dcterms:W3CDTF">2023-06-22T02:10:21Z</dcterms:created>
  <dcterms:modified xsi:type="dcterms:W3CDTF">2023-06-22T20:21:54Z</dcterms:modified>
</cp:coreProperties>
</file>